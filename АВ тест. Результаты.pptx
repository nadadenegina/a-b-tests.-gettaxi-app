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Proxima Nova"/>
      <p:regular r:id="rId24"/>
      <p:bold r:id="rId25"/>
      <p:italic r:id="rId26"/>
      <p:boldItalic r:id="rId27"/>
    </p:embeddedFont>
    <p:embeddedFont>
      <p:font typeface="Proxima Nova Semibold"/>
      <p:regular r:id="rId28"/>
      <p:bold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roximaNova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-italic.fntdata"/><Relationship Id="rId25" Type="http://schemas.openxmlformats.org/officeDocument/2006/relationships/font" Target="fonts/ProximaNova-bold.fntdata"/><Relationship Id="rId28" Type="http://schemas.openxmlformats.org/officeDocument/2006/relationships/font" Target="fonts/ProximaNovaSemibold-regular.fntdata"/><Relationship Id="rId27" Type="http://schemas.openxmlformats.org/officeDocument/2006/relationships/font" Target="fonts/ProximaNov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roximaNova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ProximaNovaSemibold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8468ef78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8468ef78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тка 1">
  <p:cSld name="CUSTOM_3_1_1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8739743" y="4688859"/>
            <a:ext cx="258577" cy="265368"/>
            <a:chOff x="238125" y="2432825"/>
            <a:chExt cx="779550" cy="781875"/>
          </a:xfrm>
        </p:grpSpPr>
        <p:sp>
          <p:nvSpPr>
            <p:cNvPr id="11" name="Google Shape;11;p2"/>
            <p:cNvSpPr/>
            <p:nvPr/>
          </p:nvSpPr>
          <p:spPr>
            <a:xfrm>
              <a:off x="238125" y="2842375"/>
              <a:ext cx="372325" cy="372325"/>
            </a:xfrm>
            <a:custGeom>
              <a:rect b="b" l="l" r="r" t="t"/>
              <a:pathLst>
                <a:path extrusionOk="0" h="14893" w="14893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238125" y="2432825"/>
              <a:ext cx="372325" cy="372325"/>
            </a:xfrm>
            <a:custGeom>
              <a:rect b="b" l="l" r="r" t="t"/>
              <a:pathLst>
                <a:path extrusionOk="0" h="14893" w="14893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45325" y="2432825"/>
              <a:ext cx="372350" cy="372325"/>
            </a:xfrm>
            <a:custGeom>
              <a:rect b="b" l="l" r="r" t="t"/>
              <a:pathLst>
                <a:path extrusionOk="0" h="14893" w="14894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45325" y="2842375"/>
              <a:ext cx="372350" cy="372325"/>
            </a:xfrm>
            <a:custGeom>
              <a:rect b="b" l="l" r="r" t="t"/>
              <a:pathLst>
                <a:path extrusionOk="0" h="14893" w="14894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54">
          <p15:clr>
            <a:srgbClr val="0000FF"/>
          </p15:clr>
        </p15:guide>
        <p15:guide id="2" orient="horz" pos="231">
          <p15:clr>
            <a:srgbClr val="FA7B17"/>
          </p15:clr>
        </p15:guide>
        <p15:guide id="3" orient="horz" pos="308">
          <p15:clr>
            <a:srgbClr val="FA7B17"/>
          </p15:clr>
        </p15:guide>
        <p15:guide id="4" orient="horz" pos="386">
          <p15:clr>
            <a:srgbClr val="FA7B17"/>
          </p15:clr>
        </p15:guide>
        <p15:guide id="5" orient="horz" pos="463">
          <p15:clr>
            <a:srgbClr val="FA7B17"/>
          </p15:clr>
        </p15:guide>
        <p15:guide id="6" orient="horz" pos="540">
          <p15:clr>
            <a:srgbClr val="FA7B17"/>
          </p15:clr>
        </p15:guide>
        <p15:guide id="7" orient="horz" pos="621">
          <p15:clr>
            <a:srgbClr val="FA7B17"/>
          </p15:clr>
        </p15:guide>
        <p15:guide id="8" orient="horz" pos="698">
          <p15:clr>
            <a:srgbClr val="FA7B17"/>
          </p15:clr>
        </p15:guide>
        <p15:guide id="9" orient="horz" pos="776">
          <p15:clr>
            <a:srgbClr val="FA7B17"/>
          </p15:clr>
        </p15:guide>
        <p15:guide id="10" orient="horz" pos="853">
          <p15:clr>
            <a:srgbClr val="FA7B17"/>
          </p15:clr>
        </p15:guide>
        <p15:guide id="11" orient="horz" pos="930">
          <p15:clr>
            <a:srgbClr val="FA7B17"/>
          </p15:clr>
        </p15:guide>
        <p15:guide id="12" orient="horz" pos="1007">
          <p15:clr>
            <a:srgbClr val="FA7B17"/>
          </p15:clr>
        </p15:guide>
        <p15:guide id="13" orient="horz" pos="1087">
          <p15:clr>
            <a:srgbClr val="FA7B17"/>
          </p15:clr>
        </p15:guide>
        <p15:guide id="14" orient="horz" pos="1164">
          <p15:clr>
            <a:srgbClr val="FA7B17"/>
          </p15:clr>
        </p15:guide>
        <p15:guide id="15" orient="horz" pos="1245">
          <p15:clr>
            <a:srgbClr val="FA7B17"/>
          </p15:clr>
        </p15:guide>
        <p15:guide id="16" orient="horz" pos="1322">
          <p15:clr>
            <a:srgbClr val="FA7B17"/>
          </p15:clr>
        </p15:guide>
        <p15:guide id="17" orient="horz" pos="1399">
          <p15:clr>
            <a:srgbClr val="FA7B17"/>
          </p15:clr>
        </p15:guide>
        <p15:guide id="18" orient="horz" pos="1481">
          <p15:clr>
            <a:srgbClr val="FA7B17"/>
          </p15:clr>
        </p15:guide>
        <p15:guide id="19" orient="horz" pos="1558">
          <p15:clr>
            <a:srgbClr val="FA7B17"/>
          </p15:clr>
        </p15:guide>
        <p15:guide id="20" orient="horz" pos="1635">
          <p15:clr>
            <a:srgbClr val="FA7B17"/>
          </p15:clr>
        </p15:guide>
        <p15:guide id="21" orient="horz" pos="1712">
          <p15:clr>
            <a:srgbClr val="FA7B17"/>
          </p15:clr>
        </p15:guide>
        <p15:guide id="22" orient="horz" pos="1789">
          <p15:clr>
            <a:srgbClr val="FA7B17"/>
          </p15:clr>
        </p15:guide>
        <p15:guide id="23" orient="horz" pos="1866">
          <p15:clr>
            <a:srgbClr val="FA7B17"/>
          </p15:clr>
        </p15:guide>
        <p15:guide id="24" orient="horz" pos="1946">
          <p15:clr>
            <a:srgbClr val="FA7B17"/>
          </p15:clr>
        </p15:guide>
        <p15:guide id="25" orient="horz" pos="2023">
          <p15:clr>
            <a:srgbClr val="FA7B17"/>
          </p15:clr>
        </p15:guide>
        <p15:guide id="26" orient="horz" pos="2100">
          <p15:clr>
            <a:srgbClr val="FA7B17"/>
          </p15:clr>
        </p15:guide>
        <p15:guide id="27" orient="horz" pos="2177">
          <p15:clr>
            <a:srgbClr val="FA7B17"/>
          </p15:clr>
        </p15:guide>
        <p15:guide id="28" orient="horz" pos="2256">
          <p15:clr>
            <a:srgbClr val="FA7B17"/>
          </p15:clr>
        </p15:guide>
        <p15:guide id="29" orient="horz" pos="2336">
          <p15:clr>
            <a:srgbClr val="FA7B17"/>
          </p15:clr>
        </p15:guide>
        <p15:guide id="30" orient="horz" pos="2413">
          <p15:clr>
            <a:srgbClr val="FA7B17"/>
          </p15:clr>
        </p15:guide>
        <p15:guide id="31" orient="horz" pos="2490">
          <p15:clr>
            <a:srgbClr val="FA7B17"/>
          </p15:clr>
        </p15:guide>
        <p15:guide id="32" orient="horz" pos="2569">
          <p15:clr>
            <a:srgbClr val="FA7B17"/>
          </p15:clr>
        </p15:guide>
        <p15:guide id="33" orient="horz" pos="2646">
          <p15:clr>
            <a:srgbClr val="FA7B17"/>
          </p15:clr>
        </p15:guide>
        <p15:guide id="34" orient="horz" pos="2726">
          <p15:clr>
            <a:srgbClr val="FA7B17"/>
          </p15:clr>
        </p15:guide>
        <p15:guide id="35" orient="horz" pos="2803">
          <p15:clr>
            <a:srgbClr val="FA7B17"/>
          </p15:clr>
        </p15:guide>
        <p15:guide id="36" orient="horz" pos="2880">
          <p15:clr>
            <a:srgbClr val="FA7B17"/>
          </p15:clr>
        </p15:guide>
        <p15:guide id="37" orient="horz" pos="2959">
          <p15:clr>
            <a:srgbClr val="FA7B17"/>
          </p15:clr>
        </p15:guide>
        <p15:guide id="38" orient="horz" pos="3036">
          <p15:clr>
            <a:srgbClr val="0000FF"/>
          </p15:clr>
        </p15:guide>
        <p15:guide id="39" pos="174">
          <p15:clr>
            <a:srgbClr val="0000FF"/>
          </p15:clr>
        </p15:guide>
        <p15:guide id="40" pos="624">
          <p15:clr>
            <a:srgbClr val="0000FF"/>
          </p15:clr>
        </p15:guide>
        <p15:guide id="41" pos="1074">
          <p15:clr>
            <a:srgbClr val="0000FF"/>
          </p15:clr>
        </p15:guide>
        <p15:guide id="42" pos="1530">
          <p15:clr>
            <a:srgbClr val="0000FF"/>
          </p15:clr>
        </p15:guide>
        <p15:guide id="43" pos="1974">
          <p15:clr>
            <a:srgbClr val="0000FF"/>
          </p15:clr>
        </p15:guide>
        <p15:guide id="44" pos="2425">
          <p15:clr>
            <a:srgbClr val="0000FF"/>
          </p15:clr>
        </p15:guide>
        <p15:guide id="45" pos="2880">
          <p15:clr>
            <a:srgbClr val="0000FF"/>
          </p15:clr>
        </p15:guide>
        <p15:guide id="46" pos="3325">
          <p15:clr>
            <a:srgbClr val="0000FF"/>
          </p15:clr>
        </p15:guide>
        <p15:guide id="47" pos="3775">
          <p15:clr>
            <a:srgbClr val="0000FF"/>
          </p15:clr>
        </p15:guide>
        <p15:guide id="48" pos="4225">
          <p15:clr>
            <a:srgbClr val="0000FF"/>
          </p15:clr>
        </p15:guide>
        <p15:guide id="49" pos="4675">
          <p15:clr>
            <a:srgbClr val="0000FF"/>
          </p15:clr>
        </p15:guide>
        <p15:guide id="50" pos="5125">
          <p15:clr>
            <a:srgbClr val="0000FF"/>
          </p15:clr>
        </p15:guide>
        <p15:guide id="51" pos="5586">
          <p15:clr>
            <a:srgbClr val="0000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.png"/><Relationship Id="rId6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Relationship Id="rId5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Relationship Id="rId4" Type="http://schemas.openxmlformats.org/officeDocument/2006/relationships/image" Target="../media/image26.png"/><Relationship Id="rId5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275925" y="244800"/>
            <a:ext cx="7146000" cy="24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1" i="0" sz="4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ru-RU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A/B-тестирование: </a:t>
            </a:r>
            <a:endParaRPr b="1" i="0" sz="24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1" lang="ru-RU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Приложение Gett(Taxi)</a:t>
            </a:r>
            <a:endParaRPr b="1"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275925" y="3952800"/>
            <a:ext cx="2858400" cy="867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457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Денегина Надежда Александровна</a:t>
            </a:r>
            <a:endParaRPr b="0" i="0" sz="1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275925" y="244800"/>
            <a:ext cx="7146000" cy="3323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1" i="0" lang="ru-RU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Анализ исходных данных </a:t>
            </a:r>
            <a:endParaRPr b="1" i="0" sz="2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285750" y="619125"/>
            <a:ext cx="55983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217250" y="535774"/>
            <a:ext cx="8563584" cy="2082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Д</a:t>
            </a:r>
            <a:r>
              <a:rPr b="0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ля формулирования гипотез </a:t>
            </a:r>
            <a:r>
              <a:rPr lang="ru-RU" sz="1200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нужны</a:t>
            </a:r>
            <a:r>
              <a:rPr b="0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:</a:t>
            </a:r>
            <a:endParaRPr/>
          </a:p>
          <a:p>
            <a:pPr indent="-228600" lvl="5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Средний возраст пользователей такси.</a:t>
            </a:r>
            <a:endParaRPr b="0" i="0" sz="1200" u="none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228600" lvl="5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Подсчет количества пользователей пользующихся разными ОС (Android и IOS). Нагляднее это всегда видно в процентах.</a:t>
            </a:r>
            <a:endParaRPr/>
          </a:p>
          <a:p>
            <a:pPr indent="-228600" lvl="5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b="0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Подсчет количества поездок разных классов (business, comfort, economy). </a:t>
            </a:r>
            <a:r>
              <a:rPr lang="ru-RU" sz="1200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Выведем их</a:t>
            </a:r>
            <a:r>
              <a:rPr b="0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в процентах.</a:t>
            </a:r>
            <a:endParaRPr/>
          </a:p>
          <a:p>
            <a:pPr indent="-228600" lvl="5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</a:pPr>
            <a:r>
              <a:rPr lang="ru-RU" sz="1200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Смотрим к</a:t>
            </a:r>
            <a:r>
              <a:rPr b="0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онверсию. Переходы пользователей с одного экрана на следующий.</a:t>
            </a:r>
            <a:endParaRPr/>
          </a:p>
        </p:txBody>
      </p:sp>
      <p:sp>
        <p:nvSpPr>
          <p:cNvPr descr="data:image/png;base64,iVBORw0KGgoAAAANSUhEUgAAA3IAAAIiCAYAAACNLvqiAAAAAXNSR0IArs4c6QAAIABJREFUeF7s3X28TWX+//EPjhDdqIhipjAjzJSZKDfdnL7lrtxFyZGbbkwxoaZjEMWkQkKFJkolucttiUYoUknFTDP1PTHJjNK4mUTiuDv4PT5X33V+e++z9t5rr7P3tq/ltf6ZyVlr7Ws9r2utvd77Wuu6Shw/fvy4sCCAAAIIIIAAAggggAACCFgjUIIgZ01dUVAEEEAAAQQQQAABBBBAwAgQ5GgICCCAAAIIIIAAAggggIBlAgQ5yyqM4iKAAAIIIIAAAggggAACBDnaAAIIIIAAAggggAACCCBgmQBBzrIKo7gIIIAAAggggAACCCCAAEGONoAAAggggAACCCCAAAIIWCZAkLOswiguAggggAACCCCAAAIIIECQow0ggAACCCCAAAIIIIAAApYJEOQsqzCKiwACCCCAAAIIIIAAAggQ5GgDCCCAAAIIIIAAAggggIBlAgQ5yyqM4iKAAAIIIIAAAggggAACBDnaAAIIIIAAAggggAACCCBgmQBBzrIKo7gIIIAAAggggAACCCCAAEGONoAAAggggAACCCCAAAIIWCZAkLOswiguAggggAACCCCAAAIIIECQow0ggAACCCCAAAIIIIAAApYJEOQsqzCKiwACCCCAAAIIIIAAAggQ5GgDCCCAAAIIIIAAAggggIBlAgQ5yyqM4iKAAAIIIIAAAggggAACBDnaAAIIIIAAAggggAACCCBgmQBBzrIKo7gIIIAAAggggAACCCCAAEGONoAAAggggAACCCCAAAIIWCZAkLOswiguAggggAACCCCAAAIIIECQow0ggAACCCCAAAIIIIAAApYJEOQsqzCKiwACCCCAAAIIIIAAAggQ5GgDCCCAAAIIIIAAAggggIBlAgQ5yyqM4iKAAAIIIIAAAggggAACBDnaAAIIIIAAAggggAACCCBgmQBBzrIKo7gIIIAAAggggAACCCCAwAkJcv/9Ybvc9eyNsn33t55r4MzyZ8mpZSrIr372W7mpSQ/zvyVKlPC8PSsigAACCCCAAAIIIIAAAkERsCbIRYI3rn2NDL5ptJxz+rlBqQuOAwEEEEAAAQQQQAABBBDwJGBtkNOju/DcX8iY26bKeWdV93SwrIQAAggggAACCCCAAAIIBEHA6iCnFdCmYWcZcOMIySqVFYT64BgQQAABBBBAAAEEEEAAgbgCGRPkqlQ8X57rvVAqnVElrNCHjhw079LNWD1ZlqyfK8eOHQ37e7lTysuTd06TSy5oGPdgWQEBBBBAAAEEEEAAAQQQCIJAxgc5B/n48eOy6JNZMnrBYDl2/FiY/V3N+8vt1/YLQn1wDAgggAACCCCAAAIIIIBAXAFrgpweyY8H9sq9U26VL7b+PezAmtVvJ8NzJhQ5WO3NW523TBZ9PEs2b98oe/Z/XxgCS2edIpVOP1d+W7OJdL7iTqlxbm1Po2Bqj+A/tqyTOR+8JH/bvNbsUxfd37lnnCdX/6ql3NS4u1SpWC0q/tBZfWX5p6/HrZxoK2jv47g7XjajeDqL20igTsDVMr720QxZvG6ObNu91fRqljvlVLn4goZy53X3JTQC6L92fCkz33tOPv7navlu7w7jqfs676yfSfP67aXtZZ1FRxj1suR986mpz30Hf/Syetg60XpwQ1dKRlnzD+2T+1/sIX//9ycJl9HZIF5ZtZ2+/Y/FMm/Ny/LvnV/KgcP5UrJESeN4yYWXSaemt8vFP28gJUuWSqhNjew2WbJ/1cp1G7c26LZ+5HoVyp4mT/ecIXWr1y+y3yNHj8iDM34vq//3rbC/xfuhRet/wYevyFt/WyDf7Pq3HCk4bI618hlVpEGtKxI6P71UUug5/Pd/fVx4XVBzHTzpsl9e5fkzv/5usyxcO13WfPGO/HfvdlN3zqL1V7VidenQuJtce/ENok8PuC2rPv+LPPDK3XGvaTv2fCvPLRtrrmn7Duw160e79iWjXE6BiuPltZ3pZ7ldD9yudW7rRXPQ/a7/ao38ceqdcuDw/kJjt3MyFfWgH6jtW6/3b3zyauH5rf+u7aNW1TrSsXF3aVrnOildqnTM5vvS2+PluWVjvDRxs07oOdTlyrvMO+XFWVLxveVWnmR5eT3WdLjqD9F637Lwoxlh352J3Dck43x09hFZl855VjqrjHzwxQrzBNRX2zb89F1UspT8vFINybnyd+Y7vkzpsnFpM+ney88o6ZEH6HYd0nV03/qk2Iq/vyE7fvhP4XVZ/1ah3OnmnjDefVGse4xbr7pb+twwxNd1IVqZ41YeK1gnYFWQU123L5Pf1GgkY2+fagKFs6zb9IE8Ore/6M1PvEVv4PRGYGCHEVFvtnQf337/tQyb1Vf+9+u/xdylXvhubtJDercc5HrRS8UXotvF6nfNc6Xa2RfIqPkDw24wQwvv9dj1wvzs0lEyd83LRR5vDd2f1kHPZvebG+FYwSPajVu8unL+HiscJbOsqQ5yn3/9V/nT7Hvl211bYh56vZ/9Rh7OmSDnn/Uz1/USuWGOdh4VN8it/OxNGTa7nwlioUu0IKc3Nxr6RswfIHvz90Q9fm2jV9RtZkapPePUil6biOt6Xr31Mzs07i59rh/seg5rKHj6jeHm5jzyCQG3D65Y4WwZdsvTcvkvryryZy8BYsee/0i/KbfK1//9Kmz7yACTzHLpBxXXK5F2mYogp+fvgJd7mjAXuvgNcl7rQT9Lr0Oz3ntepq18Jur11ylT5TOqyqCOo6TRL7Oj/qCYaOAIu86XLCW3XdNHbru2X9zAGO0ES8X3VuhnJdvL64Ui1a5fbd8gj87JlQ3ffhb3vqH5JW0lt/2joj+YuS3FPR+dfboFufva/kmGv3qf6A+g0ZafVaopI7tOkhpVakddJ9PuvVIR5PRHyxnvTpIX3366yPedG4zeF/2h7Z+kdYNbipzfse4xap//Kxnfc6acfuqZrt6xtiXIeb0C2L9eIIKc3hw93n1K4Q3X51vWS/+pd8gP+bsTqqEbGtwsAzuMcv2i0/D2x5fvkN37dnneZ7T9peIL0e1ipTf///zP/3q60GgYVsPTyp1e5Pi0J/TROfebngAvi94E61x/fW54MOZNg34p3fdCV9l/cJ+X3ca9EdMVkl3WVAY5DTGPzLnfc4/kuWeeL6O6PycXnf/rIl6J3DDrxl7X99ojp72+f3ihm+vNiluQ0xD36vsvyJ+XjvLUPrXM+qWmbfTcM89LuL2YUOLjuuA2mJJ+iT++YJAsWTc3oXJoCB1z24vyq59fGrZdvCCnVn/+yyiZ/u6zRT4vNMglu1zJ8PLazvTAUhHk9CmEkfMGFAnbfoKc13rwcx3SbfSHr7ub/1G6Zfd2DXPFCRy6fx0Q7E+dx8u1F7dOqN1Gu/lPdCexbiwTvW578fJavlS6JnqN1zJHG407GedjtLrUJ2oKjh6RnT9si8sW7Trm9xqr26Xy3ivZQU6vAy+vnCjPLxvr6Uc8B1R7X4d2elKuu6RNmHGse4yypcvJ2Dumym9rNHatl1hPNRHk4jblwKxgVZDz8mil/qrXf+rtor8KJbpEe2xs14//lb7Pd475S5XbZ2mgeeCm0dK6QaewP6cryCV6/PqIT267R8JuIvSiNfb1h2T+h9MS2p3eNDx481hp8Zsbo27ndgPr9UPcbsRSUdZUBblN276QflO6JPTDgNr8+ueXytjbXy4SuBO5Ydb9eF3fa5CLdTPkFuQ+3LhSBk77necQ57QLbU9Dbh6TcK+C23VBfyW95/rB5vw8JauMbPzP5zJkem/5z/dfFzZDt8GUPvjibRn0yu+k4GiB1+ZauJ6Wf9gtT4WdY/GCnN5c9Xq2o3ksWhe96dJHyetUuzis1zuZ5UqWl9d2pseV7CC3ffdW6ft8F9m6699F6slPkPNaD34DtRNOhtz0hFx/6U1Fyux2jrmdWz8e+EE+/vI9mbDksSJPpFxZt5mM6DrZ1yjPqfje0oNMlZfXkzNVrn6Cl1PmX/3st/LEbS8WvqaQrPMxWpDzauWsp2Fzwu9my9mnVSrcNFPvvZId5L7clid9n8tJuKNAodzCVbx7jFiPV8b63iXIJdqq7V3fmiAX61eQ3HbD5aYmt5laWLtxlek5C73J0p6MP974mFz2iyvNDaBecJZ9+pqMX/xIkd4QDR/661Do8uzSx83jMaGLhr5+rR8yzz/rTaCe3Nq7ojfooYvbBS+Rmxu3mzyv78g55Qg9/lIlSsrf/vWRjF44pMhjWvpL24S7ZskvqtYtPAR9N+wPL3QPe79Ef1nSx3RubnqHCRR6wzRlxZPyl/Xzw36hcjv2UJvIY4v2uKTbhdht3VSUNdpFNtr7Z17Kqm1z2Kw+8s5nb4a1FX1fRkPKL6vWlaPHj8l7ectNGw19PFh/HLivzTC5uentYdsm0qZ0Q6/rewly8UJp5M1mtB9kGte+Ru5rO0yqn32hHDySL2+uny+Tlj4edo5q23u8+/Oi6ya6aF3+49/rjKsGyXaXdZEe/9MnbDduYej3rR4wvSS66LVj4LSe8tE/Vxdup3XSuuEtoo8yn3NaZdFr1Te7/iVPLXrYfE7o4vaoTLwg95e/LjA94s4jnPe2Hiqdr+wZtt9UlCsZXl7bmR5MMoNcvB91/AQ5L/Wgx6Hvu/5pdr8iQV+fHLmn1QNSs8pF5vzWG/1xi4YV+c7Qx3D1cSq9HoQuXgOHs42GuYEv95SDRw4U7qY4N3eJ1KXX761Uenm9PqTCNdr3ht439Go50Nw36Hfndz/ulHlrpsrM1c8V+VEr8ofVZJyPjkm0UO723T7hzcdk1Wd/KdL7FHkdsuHeK7RNePmudmtDoxcONu9Fhy6h310lSpQw9ao9dosjHr0/+7TKMqn3PPPKi7PEC3LRHq+Mt11xznWv5w7rZYZAxgc5/XVR302b+e5kefuzJUXez4r80tMX83XQgU82fWDev8n75u/m2eTIx0n0i370wgfktY9mhtVE5E2nnpD3TL4lLPREu5nUAQZ0XR0ExFm0Z2pUt+elaZ1rC/8tFV+I0X51qn7OhfLUndOLTJr+n++/MY81fvPdv8KOv/s190jvlgPNv7kZRetldPtVVdd99NY/yzW/vt61tesNjw6O4SzFCXKpKmsqgpzbL3r6uOSTd75SZKAYt1913S7QibQp9fa6frwgp6F0xLw/yl/+Oj/qFS3ynHILS1fVa2HaSuSAD/oS+fA5fwi7yXHr1UrW5dQtTESWX9uEDp606vOlJqhVrHCOjO4xJWzwIS2PWz0nGiAiQ/+Z5c+WZ+6a7fqOSrLL5cU0npfXdqaflcwgF28gpVTVQ7ReiWiPjumPGvrDgA6cFbq0v7yLDLhxZFjPbaKBw6unl3pO5Jqh63oNcqn08npcqXB1u8bFeiTR7Trn9sNqvGOKdz4627udl9Ee/YvWY1qn2iVm4CvndQwb7r1C/fwGOW2zeq+ndbz6f5fJ4YJD5pH5yAHu3O4d3Z76ihfIoj1eGe8aR5CLd7YE5+8ZE+T8kGpQ0F/Be1zTx9OIk5Gf4eUC7vYrU4NaTWXMbS8VGQRBw4T2yumolr+58HJp+Isr5ZILGkil06uEPQKVyM2N1y/EaEHO7dd7xyHyF2b999CBY3bv+05+P7mT/HvnpkK6CyrXkj/fPcfcvEYubheWVr/tKENvedK1eiP9ixPkUlXWVAQ5/QV27OtDw0xCe5VD/6Bt6uFX75O3/raw8J9PK3eGjP/dzLB35RJpU4nclMULcl4ekYwMQpG/aOqPHU/0eFEa1c4u0k7c/PXRwsm/X2B6v5K9RPamxPsxItbne71RiNUjFxkGI98H9nP8XsvlZd/xvNx+vY7Wm+01eMQbtVJvtAa9cpd5OiPakmiQ81oPbk8F6AARz9z9atT26nY8VStWk0m954sOguIsXr6vQo9XrxmPzs0N6xkszo8giVxjvH5vpdLLS/vVdZLtGu2Ji1jfxdF+EIs34m/kMcY7H2MFuWj3NbqNDsZ1z3O3iA724yxu30PJNE/FvVdo+ZJ5HXQ7brfvLj9BTvft9nhlvHc7CXJeW6P961kd5PSlUR3JLtqw3tFOrr9t/sgMGasXitDhwnX9yAvnK6uelT//ZWTYru687g/Ss9kffNd+Kr4Q3S5KsX6918LruyO9nr1Jdv24s/BYQm9w3G4wYr1j4VaGWBeTKcuflBdW/P+QF2uI37uevdFMDO8skTdiqSprKoJcZP3He6HZ7YIdeTNc3PdX1DXRUSu1NyH3pR7y2Zb1plo09NSsWke+/M//hp0boeeUm6fb4yahO4gXJn2fiCEbOkPs/2n2fWGPsl5as4lrb1u0z9T96BMEekOljxrrORY6qmUiAeLu5v1NiHd8izNYhZ9yxXL16pXI9TNZQS4ywOh7PCVKlAx7UiJV9eB2vDc26ioDbhwRldOtV8rtxw0vgUN/+Pl+33emRyzyseRYPUJezqFUfG+l0svLMXkNcom4ak/M3X/uEPaubbzvYi2HWy+e1x9uvJ6PsYJctB8TdRsNmoOn320eSw9dYk1xE+mv1/4Tfe+V6iCn7USfCNO6fP3jmfLlti/CniLzGuT0HckN3/6j8EeYyMcrI79H9btXf2TfvOOfhYdIkPN6BbB/PSuDnA5SoI8A6rwmseY00ZPqP7u/kQ83vGPeR9JfVZ35l6JVXbzeA91OHwHzO/KXbp+KL0S3EBWr90zLoaNF3vdiV/l8y18LOUIvNMUZjCRa4Ip1g+42jYSu7+WXs1SVNdlBLt5jFF4vKZHt9EQEubkfvCRPvfFwYVDRx0PbXX6rGdExdAktazJePNd9J3IDEc/U7QZZRxBsd1mO9L1hSMwfivQmXB+L0xucj75cXThPY7TP9Bog3LaPNbJb5PrJKFe0Y0jEy+1X9WiPEScjyEUOTKU3OPous06NEToXZKrqwe089PJ9MXHJY2burtAl8sY63i/wsdq5fmfq+7eZ9r2VSq94573z92S7urXjX/38t/LUHdOlfNn/P/drZPncfliN9x2u+0jkfHQ+M9I91lMRzjaRP7zqv8eaWiYT772SHeT0sdN/fvu5ub7o0ynOPKjR2p7XINehUTdZ99Wawld6In/sjWxj2oOvoT/0VSGCnNcrgP3rWRHk9Evo9FMrmve8ml3S1rxzFWvSaf11asU/3jCT58abnyuyCr3cIBf3JjJdQS7eiRyv6z9V4UjN3T472qS+BLmiFxov7TTRy1MiPXI62Wno+6D6fsXDncebR5wjJ7e2McjpNabfDQ8Wee/BMdUBaCa/9YSs+MfihEbe9BsgdACiMbe/FPaonVv9JrNciQS5aF7RBrbRMDew4ygzsI8u5j3o1c/J4nWvhj0KmMiE4Nr+Iqdp0B5VHSX0oZn3JCXIxauHRK7tob5eetv8Bg49V+9vO1xa1G8Xd27PWNeMRI7N66OViewzUS+v179ku3r9QSKyfF6+59yOya388a5ffp5y8NJGM/3eK1lBTiet16eJ3vhkdkLTJ3kNcvrK0H9/2BYWzEIfr4ysC32nttIZVc0AK84S7/7P6/nBepkvkDFBLtYEz4kw6i8kTywcIkvWzSkyypL+yv7zSjWkSe3/MWFwzYZ3zISOoYuXG2Rbgly8XwFPZJBze/wk2iOrXr7gUhU66ZHrK8s/fb3wFNEvIp3+QOfn0i8xZ3EGK/ngixWBCHJ6XHq96NT0dtFRK0MHYYk1p6TeNOv7seqhow4+8MpdMR8J1s/x2nZjzSOo+0l2uRIJcrG8tFdu8PRecSfFdvu8RIKcPqGhcxk684fqI/dP3PaCmabh/hd7JCXIaRmTOZ+jc8xebpL9Bg7nMxrWukIe6zrJda5QL9+xiYSukyHIRXPNhCAX63zUv0XWpfYU6qBo+khfIud96P2SDfdeyQhyOlBc/6m3uU5HpZ0OF1W7WP7n19ebqQaeeO3Bwkfj9bO9Bjl1/eV59cKmuXEer9Te09DrmTOgns4Z/NyyMQQ5LxezgK0TuCDnNvSzfvHqI1JX1Lku7FFML1+ebi/rx3qW3Ev7SMUXopewE1k2t0crQ19gjjcsupdjjbbOXzd/KLkv3hY2NHa0R5C8HFuqypqOIBdt/sJEfBNpU25f5PpvXnvkumX/Xqa+M7FwSorQkWPd6iFej1yyfsRJxCtyXWfKgFHzB4WNIBg5oJJbe9B1Wl3aUW6/9l45r2L1woGXvLTbaEFOe6d1cAQd1fXTf31UWNxoU3qkolyxPL16OfvQ6RoefvXehOdN9Brk9Ie5o8eOmpGKncUZvv3A4f2+g1yi9ZDKRwW9fF9pvfyQ/718tX2j6KNwoW1HXdwmuPd63iRyjSlOkEvWo6hejyvZrul+tFKPM9HzMZG6dBzdHq0MnZrFhnuv4ga5aIPShE4toj8A6hLvh3KnLG7r6Xdmm8s6h42Y7jxeqf9775RbC6flcQZTeuPj2QQ5ryd9wNYLVJBzm0tJb5LH3THNTKQcuXi5gLu9jB1rgkb99fnRuf1Ffz257BdXyW9rNpKfnVMjLEAmchH1+oXodtMY71e2eIOdfP71X80UBRr4nMXry9fxzpNI+1gvg3u5IU5VWZMd5PQLVx/z0i89Z/HyfkI8z0TaVHGCnJa1dKlTwnpXftfsfhNi9LHKeEHO7ccDLwMBxDv+ZP3dbcjoc888T56561U5/+yfu85TGW2Sci/tNlaQ00m/3aYwcHsvxe1dtOKWy4tpPK/QfWigWvbp6zLn/RcL3yXRR3LPPeM8M8enOk9b9UzY9cZrkNNfwo8cPVz4WKaObKoju55/1s9cb6i8PuLqPO7ttR5SOXiHl++rUG+3a5efIe2dfSZyjfH6vZVKLy/tV9dJtuuJGOzEOVav56NbXcYaxC3eYCe23HsVN8jptDP3PNdZ9uzfVbgrvbfUp1ScaRhiBbREeuRu+5++RabI0nvP8mVPCwtszlQlU9+ZQJDzetIHbL1ABTmvN07OL1iRN9T675E3SW43SJHzp4S2CbfJwyNHekzFF2K0QSRC54WLbLtu0w+EBjW3L6SzKpwjz/aaK/orkN/F7b2ZWM9ze6nXVJXV669qjoWXsrrdvOgEz/1ueMjXNBqJBLNEb8riDaIS2UMUL8jp5w9/9Q9F5p0b1HGUmaD7RC9uQVt73EZ1f170PE7kps/tx4VEA4TbUOahwdLxSkW5vNRFPC8v+3DW8fpIWrz5k7S+7mszTG5uervZtds5nKp6cHvSwM/0A27bJFLHsdqF3ydKUvG9lUovr20v2a7RQo+f6QdibeN2fF7PR7e6jHVf4zb9QOgPcF6+95zyupUxXfdexQ1yiTz5o1M13P1sh7ApGxIJcrdf26/ISKb6Y2JWySzZ8t+vzKGE/ggc2Y55R87rFcD+9QIf5Jz3JPSl99BFh/S+/8Xuhd3Tzt+8TAiuJ8+DN48V/cU7dIkcMc35W+QXZyq+EKMFuWhDTu/Z/715n2TDt5+FHUPo8UebD8dt9Dy9OOtw10v/ttD0fuov7PUvvEyqnvWzIpM8uw2zHCtwevmSSFVZUxHk3OZOilZPOvFo/5dulwplT5eGtZpKg1pXyEXVfi36CGzokkibSiT4xQpybsPhewlybj8gRJu4fv1Xa+RPs+8V/bu2qQY1m5jJsE8tE330N7fLcugkrh9/+Z75ch3V/TnRwStCl3i/PLvd9LlNZq7vizw2t3/Y/H/6OYkGCN3G7XyJvMFLdrmS5ZXIV2SyglzkDUwygpzXeog2uEuiE4I7j4VqL3esUBZvnjE/ISVanSVyjfHaI5dKL69tz49RvG3crnGJTgge+sh6ss9Ht7qMNi+vfrdHDiKktqHnmdt3dCbee6UiyLmNwqtmL739tDy/fFxYM0w0yLn1sIbuMHRUU4Kc1zM+eOsFKsi5TQqtVaaP2TzW9Vmpfd6vTHCbu+Ylmb7qWdeX790eL3C7aOujPF2ze8vNTfQm+zT5Zte/JPL9Gv1st1/PU/GFGGtY99NPPVP63vCgGfFTB23457Y8c5O5adsXYS069IvD+YPbhM96wc/+dSvpe/0QM6qffhnP/eBFmbpyYpER/CJvOCPnHtPPOef0c82EufoIqtviJcjpdskuq+5TH6Xo+3yOmZvJWWJNhOqlrNEmLFb/P7R9WLJ/1UpKlSgZtZ7cfq1PpE0lK8i5BRgvQS7aDx56XANufMwMFnL0+DHRwKUDF+lIjKFLrIlro12i3XrK3W6uNTiHjsap+wv98nWbzF3Phy5X3S13XNdPymSVNfX2+PxBRX4kca4Hk3svMNcFZ4n3K6/bzW5kT2iyy5Usr0S+MpMR5NxuHpMV5LzUgx5v5LQcjkHoezTavj/fsl7GLRpW5Doc7XoYLzxEWuuPCYOm/c4M6hW6hL7XlEj9JHKN8RrkUunl9dhS4RrtGqfXkl4tB0rz+u3No3h6o67nro7YeqTgcFiRu17dW37fapB5SiPZ52O0H+j0/a62DTvLnc3+YCaw1/LpSIiLP3k1bPC4yF5vW+69QoG9fFdHtiG3J7R0HZ3Wo3/7R0XDut4Ljl/8iHy4YWWRAffcXneJ9o6c9shpIBy98IGw0StDyxQ6RyVBzusZH7z1AhXk4jV6L9XnNgR+tItyvP3pxe7uFgOk+zW/D1s1FV+IyZifK/RdJ6fA0XoW4h27/j30ZtPryHxe9hu6TmgPR7rKGmtuH69fDtF6hOMdf+QXqLN+Im1Kt/G6frQv/GgDtHgJcvr5kZM2xztu5+/6TtXj3Z+XxrWv8bqJWU9/tOg3pUvYYBtq2brhLdK75UDzBazvQT0y5/4iN9aNamfLqG7Pmfdc3d6VSqQgbm7xgpzu3+1GLvRHkmSXK1leidgkI8i1+m1HGXzTE+aRI2dJVpDzUg+6jn7egJd7ivYmJ7po+x7a6Um57pI2RTb1Gjicyd9fXjnRTEofOiG9Bt0n75xmelMSXbxeM3S/iQS5VHl5Pb5UuercYsNm90toehLH4MINAAAgAElEQVSnzDqn6uPdpxS+d5Xs8zHeI/Px7CLfC7Pl3iv0uLx+V4duE6+HLJ6b/j1yULFYQU7Xd3siQ/89cm45gpwX/WCuE6ggF+2GLVrV6fPGejP3zXf/Klwl2nPF+gjioGl3FekdiNUsoj1Ok4ovRLeLkt40nlH+LE9z6V1Vt7k82Gmc69DU+hjawGk9ZeO3n3s+CyIfI0lHkNPCpaOszsvFoY89OTBevxz0i+/V91+QPy8dldAXfTLalJbVaxuM9oUf+mtxaKPwGuQ0dE9c8qjMW/NykV8tozWyaI/+eG2UOl2CDgcd+ct3rO21l/SJHi9KvZ/9xqym9Tb29Ydk/ofT4n6s/rp98c8byOdfry8chEOPQUfl01EWncVLkHMLatXOvkAm/G6m6RVPRbmS4RUXKWSF4ga5aD1ZyQxy8erBORydAmHI9N4JhTkNcb9vOUhuueJO13dlizv9gJbNrRfdax15vWbo/hIJcrp+Kry8HleqXPWcXP73RTJq/sCEpt7QgdI0xIX22uuxJPN8dKvLX5xXT77a9kXc63G06Tfcwmam3XuFlsfrd3XkMUTrcY9cT6/1dapfIlt2bgp7hSfyceh4QS5aeHSmI9AnrnQhyHk944O3XuCCnFZRvKGu9QRrfNE1MqjDKJn93hSZsXpyYc3GGtVLJ60dNquvma8p1qI3cDc36SG9Ww4KG63S2SYVX4jRLko6mtKU5ePk3c+Xul6g1UJ7IQd2GCH6a220Rb9oR8wbIO/nLY97oddnxod1flq05yrWzWoyTie3d45SWdZo73I5x5LIl4N+0etw6SPmD5C9+XticuijvD2u6SNdrr67yDuHumEibSqR9d32q49Aju85o8iNRrQbuGjv8WjPwez3XzDt88Dh/JjHr19W97d92DyS5BagvbQl9V726WvmcbZ43ro/Pc6RXSeZd/JCFx198fEFg838eqG9HaHrOOXVL/LfT+oku37cWfjnyB8CvAQ5t1HhdIeh75Ymu1zJ8vJSN7pOcYJctKcfdL/JDHJe6sE5Xl131nvPy7SVz8Rt3/qjon4f6WPD0ZbiBg7tRRnRdZJ5lN3Pksg1JtEgp+VJtpfXY0y161fbN8ijc3JdH7UOLaPeN7S7LMdMleT2XZzM89GtLrVt7Pxhu0x+a3TU9hrtmugcR6bfe4V6J/JdHbqd/gg59e3x5lUS/Q5zW5zv6xsadpL+L90W9iN45KsB8YJctN7OyNHTCXJez/jgrRfIIKfVpO/CvbLyGfOLmPbS6A2XTtark6LqxLE68aXeEL6Xt9y8RxB6Qxatt0H3qyfuP7askzkfvGTmm9JBQ3RxhtG++lct5abG3c2v5NGWVHwhxroonX1aJflk0wfmhnnjfz43PRJ6obn4goZy53X3FVrEa956Qdm8Y6Ms+PAV+ejL1bJt91bjoTdRZ5Y/Sy658DIzgbL2QjhzqTj7TFePnPN5xSmrPvaoX7z/3bu98AvN8dLR8EIDaqSZny8HvQF/+x9L5M3188yje/sO7DW71c/U9zs1vLS9rLMxTkab0n14bYOR62ldP3DTaGndoJNrUbz2yIVurOfQkvVz5e2/L5Z/7/yy0FzP1+pnXygdGneTay++IeYPDfHabujfQ73/teOfhedwaDvW90R0cJXIdhzavtZvXiMvvzPR/LCjQVTX/XmlGtLyNx1NmbVHXP8996Xbwuami+w58hLk9HPdBlCI3Je2+2SVyznWZHh5qZ/iBDm3AQecz0xmkPNaD27tTa+b+v6Mc37r+ayTxuvAJk3rXOf6A03ofvwEDr2GXFD5F5Jz1e/Mu7ehE9t7qZPQdbxeM3QbP0Eusr0V18vr8aXD1fk+0h+u1m163wQm/e5M5L4hmedjrLrUESpffPtpWZ23zLRV57qm9036XaSPmMdaMvneK7Tcfr6rQ7fXgP7Ciqfkk03v/+RUoqT5cfN/Lm4ttzS9QyqdUcWsHjlKc+R7vPGCnO4j8vFKt0ekCXJez/jgrXdCglzwGE/8ERX3opTqI4j8Ynd7F9FLGSKPMxMmk/ZSbtZBAAEEEEAgEwQSCeWZUF7KgAAC0QUIcgFpHQS5n379YkEAAQQQQACB6AIEOVoHAsERIMgFpC4JcgS5gDRlDgMBBBBAIIUCBLkU4rJrBNIsQJBLM3iqPo4gR5BLVdtivwgggAACwREgyAWnLjkSBAhyAWkDBDmCXECaMoeBAAIIIJBCAYJcCnHZNQJpFiDIpRk8VR+X6UEuVcfNfhFAAAEEEEDAuwBBzrsVayKQ6QIEuUyvIY/lI8h5hGI1BBBAAAEETmIBgtxJXPkceuAECHKBq1IOCAEEEEAAAQQQQAABBIIuQJALeg1zfAgggAACCCCAAAIIIBA4AYJc4KqUA0IAAQQQQAABBBBAAIGgCxDkgl7DHB8CCCCAAAIIIIAAAggEToAgF7gq5YAQQAABBBBAAAEEEEAg6AIEuaDXMMeHAAIIIIAAAggggAACgRMgyAWuSjkgBBBAAAEEEEAAAQQQCLoAQS7oNczxIYAAAggggAACCCCAQOAECHKBq1IOCAEEEEAAAQQQQAABBIIuQJALeg1zfAgggAACCCCAAAIIIBA4AYJc4KqUA0IAAQQQQAABBBBAAIGgCxDkgl7DHB8CCCCAAAIIIIAAAggEToAgF7gq5YAQQAABBBBAAAEEEEAg6AIEuaDXMMeHAAIIIIAAAggggAACgRMgyAWuSjkgBBBAAAEEEEAAAQQQCLoAQS7oNczxIYAAAggggAACCCCAQOAECHKBq1IOCAEEEEAAAQQQQAABBIIuQJALeg1zfAgggAACCCCAAAIIIBA4AYJc4KqUA0IAAQQQQAABBBBAAIGgCxDkgl7DHB8CCCCAAAIIIIAAAggEToAgF7gq5YAQQAABBBBAAAEEEEAg6AIZE+SmT58u3bp1k0WLFkmbNm1c3Y8ePSpLly6VkSNHyocffijHjh2TkiVLSuPGjWXEiBFy5ZVXSokSJcK23bx5szRt2lS2b98etS5HjRolAwcODPv7gQMHZMqUKTJ27FjZsmWL+Vu9evVk6NCh0rFjRylVqpTr/vLy8mTAgAGybNkyOXLkiJQvX15ycnJk2LBhUq1ataC3J44PAQQQQAABBBBAAAEE0iCQEUFuyZIl0qlTJ8nPz48a5DQU9evXTyZNmmRYNCCdddZZ8v3338v+/fvNv+Xm5pqQV7p06UK6FStWSPPmzeX48eOeg5yGuF69esm0adPMNpUqVZKCggLZvXt31M/RP7z77rvSvn172bNnjylD5cqVZdu2bSZwVq9e3Rxb/fr101CtfAQCCCCAAAIIIIAAAggEWeCEBjntYZs4caLcf//9JuzoEq1HzumxO/PMM2X27NkmnGnvm+5j6tSpctddd5mwNm/ePOnQoUNhnU2ePNmEsr59+8r48eM91aX2wvXv319q1Kghixcvljp16ph9ay9b586dZe/evbJw4UJp27Zt4f62bt0qzZo1kw0bNpjetyFDhpgwp+v27t1bZs6caf6+YMECqVChgqdysBICCCCAAAIIIIAAAggg4CZwQoKchqLPPvtMevbsKZ988okpl4Yy/Xe3IHfw4EHzOOObb74pEyZMkD59+oQdi26njzw++uijZj0NellZWWYd/YwXXnhBNAjeeuutcVvBjh07JDs7WzZu3Gg+r2XLlmHbOIGyRYsWJsyVK1fO/F0DqYbFyH/Xv+3atUtatWol69atc91n3EKxAgIIIIAAAggggAACCCAQInBCgpw+btioUSP5+uuvpWbNmvLUU0/JmDFjzKOJbkFu586d5pHFL7/80rwjd+mllxapxDfeeMP0kF199dWmF017vfSRy3bt2pn9rly5Uq644oq4le88iqmfoT1wFStWDNtGe9607Pr45fvvv29660KDZrTAqO/waS9dIj2DcQvLCggggAACCCCAAAIIIHBSCpyQIKe9Xtqrdtttt5keLw1FrVu3jhrkvNTMjBkzpGvXrmFBzglduv3cuXNNYNRHL/Uxztq1a8vw4cOLDFwybtw4865dly5dTC9e5OAp+/btK1JWPZ4mTZqY9+E0NDZs2NBT0PRyXKyDAAIIIIAAAggggAACCEQKnJAgF1kIt3CUSFVpELzxxhvlrbfeMu+n/elPfzKb62Ob2kPnvEunAa5KlSphA6Ro+NMBVHTwFF10QBV9fDNWz1mPHj3MQCjOaJdffPFFYW+f00sXWf7169fLVVddJeecc46sXbtWqlatmsghsi4CCCCAAAIIIIAAAgggUChgfZDT9+OeeOIJM32AhqPVq1dLrVq1zAE6vXT6//UdukGDBpl32nSAFH2EU0OcjpSpjz3q3zTwRYY0t7YSuY6XkOZlHdolAggggAACCCCAAAIIIOBFwOogpyHumWeekXvvvdcc65w5c8yjks6io08+9thjctNNN5n1Qqcl0HWcgUvOP/98ee+99+TCCy/M6CCnYZAFAQQQQAABBBBAAAEEMlPAbSyPVJXU2iCn88o9/vjj8tBDD5lJwXVkSu0pi3ynLRbct99+ayYL1wm/dYRKHVkyk3vkCHKpOg3YLwIIIIAAAggggAACxRcgyLVpE1NRR6PUwVJ0/jjtZdNHKLXXLZEQpx/g9m6ejiypj1oOHjzY9Oa5LU7Y0x4/nQNv8+bNJhDq8sEHH5j55yIX59FKfUdvzZo1cu655xa/pbAHBBBAAAEEEEAAAQQQOCkFrOuR05EodWATnZNNBw7Rd90aN27sWnn66OXu3bvltNNOK/JYpW7w448/yvXXX2+mEXCmPWDUypPyPOCgEUAAAQQQQAABBBCwSsCqILdp0yYTvHQ+uQYNGpgpBS644AJX8O+++86MWJmXlyfz58+XDh06FFnP6Unbu3evGSRFu0LjzSPnbHP48OGE5pFzevqYR86q84PCIoAAAggggAACCCCQkQLWBDl9j61Zs2YmxDVv3lxmzZolZ511VlTUgoIC6datm8yePVtuvvlm8/hl6GAn2lun0wfoI5SXX365mbrgjDPOEJ0TLjs7WzZu3Gjem9N57kIXZ4CUFi1ayMKFC80omLpMnDjRTFkQ+e/6t127dpn377QX0W2fGdkyKBQCCCCAAAIIIIAAAghkrIAVQU5DmYYkne/t2muvNT1sGrriLToS5XXXXSfaexY5/YAGL32/TRcNZG3bti3cnb771r9/f/Oum/7t4osvFg1+y5Ytk86dO8sPP/xgJhYP7eXTRz41aG7YsCHss7S3r3fv3jJz5sywycrjlZ2/I4AAAggggAACCCCAAALRBKwIcs5AITrnW7xFH6dcvHixVKhQwYQvZ3oCnQxce+R0sJHt27eLjnqpo10+/fTTcs8994QNlKJBrWfPnias6VKpUiXRMKnv2+mSm5srI0eOLPLe3ZIlS6RTp05mbjr9rMqVK8u2bdtEP7t69ermPbz69evHOwT+jgACCCCAAAIIIIAAAgjEFLAiyE2ePFl69erlqSpDg5yzgb4nN2DAANOjpgFOQ5Y+njl69GipW7eu634PHDggU6ZMEe2d08c6dalXr57pbdO56kqVKuW6XeRnlS9fXnJycmTYsGFSrVo1T8fASggggAACCCCAAAIIIIBALIGMCHJUEQIIIIAAAggggAACCCCAgHcBgpx3K9ZEAAEEEEAAAQQQQAABBDJCgCCXEdVAIRBAAAEEEEAAAQQQQAAB7wIEOe9WrIkAAggggAACCCCAAAIIZIQAQS4jqoFCIIAAAggggAACCCCAAALeBQhy3q1YEwEEEEAAAQQQQAABBBDICAGCXEZUA4VAAAEEEEAAAQQQQAABBLwLEOS8W7EmAggggAACCCCAAAIIIJARAgS5jKgGCoEAAggggAACCCCAAAIIeBcgyHm3Yk0EEEAAAQQQQAABBBBAICMECHIZUQ0UAgEEEEAAAQQQQAABBBDwLkCQ827FmggggAACCCCAAAIIIIBARggQ5DKiGigEAggggAACCCCAAAIIIOBdgCDn3Yo1EUAAAQQQQAABBBBAAIGMECDIZUQ1UAgEEEAAAQQQQAABBBBAwLsAQc67FWsigAACCCCAAAIIIIAAAhkhQJDLiGqgEAgggAACCCCAAAIIIICAdwGCnHcr1kQAAQQQQAABBBBAAAEEMkKAIJcR1UAhEEAAAQQQQAABBBBAAAHvAgQ571asiQACCCCAAAIIIIAAAghkhABBLiOqgUIggAACCCCAAAIIIIAAAt4FCHLerVgTAQQQQAABBBBAAAEEEMgIAYJcRlQDhUAAAQQQQAABBBBAAAEEvAsQ5LxbsSYCCCCAAAIIIIAAAgggkBECBLmMqAYKgQACCCCAAAIIIIAAAgh4FyDIebdiTQQQQAABBBBAAAEEEEAgIwQIchlRDRQCAQQQQAABBBBAAAEEEPAuQJDzbsWaCCCAAAIIIIAAAggggEBGCBDkMqIaKAQCCCCAAAIIIIAAAggg4F2AIOfdijURQAABBBBAAAEEEEAAgYwQIMhlRDVQCAQQQAABBBBAAAEEEEDAuwBBzrsVayKAAAIIIIAAAggggAACGSFAkMuIaqAQCCCAAAIIIIAAAggggIB3AYKcdyvWRAABBBBAAAEEEEAAAQQyQoAglxHVQCEQQAABBBBAAAEEEEAAAe8CBDnvVqyJAAIIIIAAAggggAACCGSEAEEuI6qBQiCAAAIIIIAAAggggAAC3gUIct6tWBMBBBBAAAEEEEAAAQQQyAgBglxGVAOFQAABBBBAAAEEEEAAAQS8CxDkvFuxJgIIIIAAAggggAACCCCQEQIEuYyoBgqBAAIIIIAAAggggAACCHgXIMh5t2JNBBBAAAEEEEAAAQQQQCAjBAhyGVENFAIBBBBAAAEEEEAAAQQQ8C5AkPNulbFrbtp+TGatPSIfbzoq+YePm3JWKCPSoGaW5DQqLbWqlMzYslMwBBBAAAEEEEAAAQQQSFyAIJe4WUZtoSGu37SDcqjgpwAXuZTJKiHju5clzGVUrVEYBBBAAAEEEEAAAQSKJ0CQK57fCd/6kdcOyaq8gpjlyK6bJQ+1L3PCy0oBEEAAAQQQQAABBBBAIDkCBLnkOJ6wvbQZk1/4OGW0Quhjlq/nlj9hZeSDEUAAAQQQQAABBBBAILkCBLnkeqZ9b9eO2O/pM98eTJDzBMVKCCCAAAIIIIAAAghYIECQs6CSYhWRIGd5BVJ8BBBAAAEEEEAAAQR8CBDkfKBl0iYEuUyqDcqCAAIIIIAAAggggEB6BAhy6XFO2acQ5FJGy44RQAABBBBAAAEEEMhYAYJcxlaNt4IR5Lw5sRYCCCCAAAIIIIAAAkESIMhZXpsEOcsrkOIjgAACCCCAAAIIIOBDgCDnAy2TNiHIZVJtUBYEEEAAAQQQQAABBNIjQJBLj3PKPoUglzJadowAAggggAACCCCAQMYKEOQytmq8FYwg582JtRBAAAEEEEAAAQQQCJIAQc7y2iTIWV6BFB8BBBBAAAEEEEAAAR8CBDkfaJm0CUEuk2qDsiCAAAIIIIAAAgggkB4Bglx6nFP2KQS5lNGyYwQQQAABBBBAAAEEMlaAIJexVeOtYAQ5b06shQACCCCAAAIIIIBAkAQyJshNnz5dunXrJosWLZI2bdpENc7Ly5MBAwbIsmXL5MiRI1K+fHnJycmRYcOGSbVq1Vy327p1qzz88MMya9Ys2b9/v5QuXVqaN28uo0ePlrp167puc+DAAZkyZYqMHTtWtmzZYtapV6+eDB06VDp27CilSpVy3c5P+YrToAhyxdFjWwQQQAABBBBAAAEE7BTIiCC3ZMkS6dSpk+Tn58cMcu+++660b99e9uzZY8JY5cqVZdu2bXLs2DGpXr262bZ+/fphNfHll19Ky5YtZfPmzVKyZEmpWrWq7Ny504TAU089VebMmSM33HBD2DYa4nr16iXTpk0z/16pUiUpKCiQ3bt3m//Ozc2VkSNHmjKELn7KV9xmQ5ArriDbI4AAAggggAACCCBgn8AJDXJHjx6ViRMnyv3332/CmC7ReuS0V61Zs2ayYcMG0/s2ZMgQE6T27t0rvXv3lpkzZ5q/L1iwQCpUqGD2tW/fPunQoYMsX75cunbtKpMmTTI9eBrURo0aJcOHD5eLLrrI/D20N0974fr37y81atSQxYsXS506deT48eOmF7Bz587mMxcuXCht27YtrHE/5UtGcyHIJUORfSCAAAIIIIAAAgggYJfACQlyGoo+++wz6dmzp3zyySdGrESJEiYsRQtyGvj69u0rLVq0MCGqXLlyhdK7du2SVq1aybp16+TNN980PXC6LF26VK6//nqpXbu2rFq1Ss4999zCbbRH7tZbb5W5c+fKhAkTpE+fPuZvO3bskOzsbNm4cWPYvpwNnUdAI8vhp3zJaCoEuWQosg8EEEAAAQQQQAABBOwSOCFBTh+HbNSokXz99ddSs2ZNeeqpp2TMmDGijya6BbmDBw+a99I0pGmQ0gAWuYwYMcL00mnYGz9+vPlzv379TEgbPHiwPPbYY0W20d473a+Gvfnz50vZsmVlxYoV5v25Sy+91PTAVaxYMWw77XnTsmuv3vvvv2966/yWLxlNhSCXDEX2gQACCCCAAAIIIICAXQInJMhpr5f2gN12222m90xDUevWraMGOV2/SZMm5n04DXsNGzYsovzGG2+YRx2vvvpq8zik9vC1a9dO3n77bRPS9BHLyGX9+vVy1VVXyTnnnCNr164178+NGzfOvAPXpUsXExp1P6GLPq4ZWVY/5XMe/yxucyHIFVeQ7RFAAAEEEEAAAQQQsE/ghAS5SCa3cBS6zhdffCFXXHGF+SenFyxeKNP35zTU6bbas3bdddcVqR2nZ/C7776T1atXm144pxcvtGcvcsMePXqYgVD0PbuBAweaz0i0fBoak7EQ5JKhyD4QQAABBBBAAAEEELBLwIog59ZzFi/I6d/1EcjQkBa5jVuQiwxpbtUZuY6f8hHk7DpRKC0CCCCAAAIIIIAAApkkQJCLCHsEuUxqnpQFAQQQQAABBBBAAAEE3AQIchYFOe35i1wGvHWRp5Y9usWGIuv9Z29ZWfnvs2XDzvJy6GhJ8/dyWUfll5Xy5ZoLdsl5px/0tG9WQgABBBBAAAEEEEAAATGvaqVrsSLI6WTeTZs2NSYffPCBmd8tcnEeb6xSpYqsWbNGTjnlFDP65KeffiorV64sfIctdDvn0Uqd6Pu9996TSy65xIx8qSNgRhvpUrd3eu10vjmdA89P+UKnQvBa2ckMchrinvno53LkWPhgLk5ZSpc8LvdcvoUw57VyWA8BBBBAAAEEEEDgpBcgyLVpE9YI/IwKyaiV4efR24PLh/3DI68dklV5BTFPtuy6WfJQ+zIn/QkJAAIIIIAAAggggAACmSZgRY+cl3nanJ60ROaRmzFjhnTt2jWheeSc3rfDhw8nNI+cW/mS0Rj8jlrZZky+5B8+HrMIFcqIvJ4bHgCTUWb2gQACCCCAAAIIIIAAAsUTsCLI6SFOnDjRTPbdokULWbhwoZQrV67wyHft2iWtWrWSdevWmUnDdW46XZYuXWpCWu3atWXVqlUS+jjjkSNHzMTic+fONZOG67x2umjvX3Z2tmzcuDFsX86H6dxy3bp1K1IOP+UrXtX9tLXfIOd3u2SUmX0ggAACCCCAAAIIIIBA8QSsCXJbt26VZs2ayYYNG2To0KEyaNAgE+b27t0rvXv3lpkzZxZOBu5Mtq3z0+lE4MuXLzcTfD/77LNy+umnmwnIdQ644cOHS61ateSdd96R6tWrF0rqu2/9+/c37+JpaLz44ovl+PHjZj66zp07yw8//CDz5s0Lm2TcT/mKV3UEuWT4sQ8EEEAAAQQQQAABBGwUsCbIKe6SJUukU6dOkp+fLzrhd+XKlUUHLDl27JgJYosWLZL69euH1YMOdtK2bVv55ptvpGTJkqLzt+3cuVO0R+7UU0+VOXPmyA033BC2jQa1nj17mrCmS6VKlaSgoEB0UBRdcnNzZeTIkaYMoYuf8hW30fjtWfO7XXHLy/YIIIAAAggggAACCCBQfAGrgpwebl5engwYMMD0jmkYK1++vOTk5MiwYcOkWrVqriLaW/bwww/LrFmzZP/+/SaA6YiWo0ePlrp167puo712U6ZMEe2d27Jli1mnXr16pjewY8eOUqpUKdft/JSvONXoN5D53a44ZWVbBBBAAAEEEEAAAQQQSI5ARgS55BzKybkXv4HM73YnpzJHjQACCCCAAAIIIIBAZgkQ5DKrPhIujd9A5ne7hAvIBggggAACCCCAAAIIIJB0AYJc0knTu0O/gczvduk9Oj4NAQQQQAABBBBAAAEE3AQIcpa3C7+BzO92lnNRfAQQQAABBBBAAAEEAiFAkLO8Gv0GMr/bWc5F8RFAAAEEEEAAAQQQCIQAQc7yavQbyPxuZzkXxUcAAQQQQAABBBBAIBACBDnLq9FvIPO7neVcFB8BBBBAAAEEEEAAgUAIEOQsr0a/gczvdpZzUXwEEEAAAQQQQAABBAIhQJCzvBr9BjK/21nORfERQAABBBBAAAEEEAiEAEHO8mr0G8j8bmc5F8VHAAEEEEAAAQQQQCAQAgQ5y6vRbyDzu53lXBQfAQQQQAABBBBAAIFACBDkLK9Gv4HM73aWc1F8BBBAAAEEEEAAAQQCIUCQs7wa/QYyv9tZzkXxEUAAAQQQQAABBBAIhABBzvJq9BvI/G5nORfFRwABBBBAAAEEEEAgEAIEOcur0W8g87ud5VwUHwEEEEAAAQQQQACBQAgQ5CyvRr+BzO92lnNRfAQQQAABBBBAAAEEAiFAkLO8Gv0GMr/bWc5F8RFAAAEEEEAAAQQQCIQAQc7yavQbyPxuZzkXxUcAAQQQQAABBBBAIBACBDnLq9FvIPO7neVcFB8BBBBAAAEEEEAAgUAIEOQsr1mOU/MAACAASURBVEa/gczvdpZzUXwEEEAAAQQQQAABBAIhQJCzvBr9BjK/21nORfERQAABBBBAAAEEEAiEAEHO8mr0G8j8bmc5F8VHAAEEEEAAAQQQQCAQAgQ5y6vRbyDzu53lXBQfAQQQQAABBBBAAIFACBDkLK9Gv4HM73aWc1F8BBBAAAEEEEAAAQQCIUCQs7wa/QYyv9tZzkXxEUAAAQQQQAABBBAIhABBzvJq9BvI/G5nORfFRwABBBBAAAEEEEAgEAIEOcur0W8g87ud5VwUHwEEEEAAAQQQQACBQAgQ5CyvRr+BzO92lnNRfAQQQAABBBBAAAEEAiFAkLO8Gv0GMr/bWc5F8RFAAAEEEEAAAQQQCIQAQc7yavQbyPxuZzkXxUcAAQQQQAABBBBAIBACBDnLq9FvIPO7neVcFB8BBBBAAAEEEEAAgUAIEOQsr0a/gczvdpZzUXwEEEAAAQQQQAABBAIhQJCzvBr9BjK/21nORfERQAABBBBAAAEEEAiEAEHO8mr0G8j8bmc5F8VHAAEEEEAAAQQQQCAQAgQ5y6vRbyDzu53lXBQfAQQQQAABBBBAAIFACBDkLK9Gv4HM73aWc1F8BBBAAAEEEEAAAQQCIUCQs7wa/QYyv9tZzkXxEUAAAQQQQAABBBAIhABBzvJq9BvI/G5nORfFRwABBBBAAAEEEEAgEAIEOcur0W8g87ud5VwUHwEEEEAAAQQQQACBQAgQ5CyvRr+BzO92lnNRfAQQQAABBBBAAAEEAiFAkLO8Gv0GMr/bWc5F8RFAAAEEEEAAAQQQCIQAQc7yavQbyPxuZzkXxUcAAQQQQAABBBBAIBACBDnLq9FvIPO7nXJt2n5MZq09Ih9vOir5h48bwQplRBrUzJKcRqWlVpWSlqtSfAQQQAABBBBAAAEEMluAIJfZ9RO3dH4Dmd/tNMT1m3ZQDhX8FOAilzJZJWR897KEubg1xwoIIIAAAggggAACCPgXIMj5t8uILf0GMr/bPfLaIVmVVxDz2LPrZslD7ctkhA+FQAABBBBAAAEEEEAgiAIEOctr1W8g87tdmzH5hY9TRqPTxyxfzy1vuSzFRwABBBBAAAEEEEAgcwUIcplbN55K5jeQpXs7TwfDSggggAACCCCAAAIIIOBJgCDniSlzV0p3IPP7eZkrSMkQQAABBBBAAAEEELBPgCBnX52FldhvsEr3dpYzU3wEEEAAAQQQQAABBDJKgCCXUdWReGHSHcj8fl7iR8YWCCCAAAIIIIAAAgggEE2AIGd52/AbrNK9neXMFB8BBBBAAAEEEEAAgYwSIMhlVHUkXph0BzK/n5f4kbEFAggggAACCCCAAAII0CMX0DbgN1ile7uA8nNYCCCAAAIIIIAAAgicEAF65E4Ie/I+NN2BzO/nJe+I2RMCCCCAAAIIIIAAAggQ5CxvA36DVbq3s5yZ4iOAAAIIIIAAAgggkFECBLmMqo7EC5PuQOb38xI/MrZAAAEEEEAAAQQQQACBaAIEOcvbht9gle7tLGem+AgggAACCCCAAAIIZJQAQS6jqiPxwqQ7kPn9vMSPjC0QQAABBBBAAAEEEECAHrmAtgG/wSrd2wWUn8NCAAEEEEAAAQQQQOCECNAjd0LYk/eh6Q5kfj8veUfMnhBAAAEEEEAAAQQQQMCKILdt2zZp1KiRfP3113Fr7NRTT5XVq1fLpZdeatbdvHmzNG3aVLZv3x5121GjRsnAgQPD/n7gwAGZMmWKjB07VrZs2WL+Vq9ePRk6dKh07NhRSpUq5bq/vLw8GTBggCxbtkyOHDki5cuXl5ycHBk2bJhUq1YtbvkTXcFvsEr3dokeF+sjgAACCCCAAAIIIIBAdIHABbnKlSubIFe7dm1z1CtWrJDmzZvL8ePHPQc5DXG9evWSadOmmW0qVaokBQUFsnv3bvPfubm5MnLkSCldunTYPt99911p37697Nmzx/xNy6Ih9NixY1K9enVZtGiR1K9fP6ntMd2BzO/nJfWg2RkCCCCAAAIIIIAAAie5gBVBLl4daY9Zs2bN5KuvvpI5c+aYHjNnmTx5sgllffv2lfHjx8fblfm79sL1799fatSoIYsXL5Y6deqYIKi9bJ07d5a9e/fKwoULpW3btoX727p1qynDhg0bTO/bkCFDTJjTdXv37i0zZ840f1+wYIFUqFDBUzm8rOQ3WKV7Oz2WTduPyay1R+TjTUcl//BPwbpCGZEGNbMkp1FpqVWlpJdDZh0EEEAAAQQQQAABBE56AeuD3L59+6RDhw6yfPlyuffee+XJJ5+UEiVKFFZsz5495YUXXpDp06fLrbfeGrfCd+zYIdnZ2bJx40Z58803pWXLlmHb6H66desmLVq0MGGuXLly5u8TJ040YTHy3/Vvu3btklatWsm6detc9xm3UDFWSHcg8/t5GuL6TTsohwrce0bLZJWQ8d3LEuaK0xjYFgEEEEAAAQQQQOCkEbA+yDm9Zw0bNpS//OUvcvbZZxdW3v79+6Vdu3aijzyuXLlSrrjiirgV6zyKqe/YaQ9cxYoVw7bRnjd9X08fv3z//fdNb93BgwdNL6AGv2iBccSIEaaXLpGewbiFFRG/wSrd2z3y2iFZlVcQ85Cy62bJQ+3LeDls1kEAAQQQQAABBBBA4KQWsDrIbdq0Sa666irRXrSlS5eaRxdDFyd06b/NnTtXnnrqKZk3b555Z03foRs+fHiRgUvGjRtn3oHr0qWLCWWhvXu6H+0BbN26tQmH+s5bmzZtzOc3adLEvA+n/66hMnJ54403zKOYV199tXlcM1mPV6Y7kPn9vDZj8gsfp4x2xuljlq/nlj+pT0gOHgEEEEAAAQQQQAABLwLWBjl9Z017t5555hm5+eabZcaMGUUGH/nkk09McNIwdvToURPgqlSpIt9//71ob50uXbt2lUmTJpnRJXXp16+fTJgwIWbPWY8ePcxAKM5ol1988UVhb5/TSxeJv379ehM6zznnHFm7dq1UrVrVS/3EXcdvsLJlu7gArIAAAggggAACCCCAwEkoYG2Q+/zzz+XKK6+U/Px8WbVqlTRu3LhI9Wm406Cmi04bMGjQIPNOm4Y67U3Tv+n2+tij/k0DX2RIc2sTket4CWle1vHT/mwJZH7L6ceEbRBAAAEEEEAAAQQQCLqAlUEutDdOR5F85ZVXJCsrq0hd6ftzjz32mNx0002m5y5yugBn4JLzzz9f3nvvPbnwwgsJchGKbw8Of9TRbyDzu13QT0CODwEEEEAAAQQQQAABPwJWBrlvv/3WTPKtE4S7jSzpFcLZj05foPvRkSXpkQvXI8h5bU2shwACCCCAAAIIIIBA+gSsDHKzZ8+WnJwcqVu3rhlcRN8787O4DVyiI0vqo5aDBw82vXluixP2tMfv/vvvl82bN5tgqcsHH3xg5p+LXJxHK/UdvTVr1si5556bcJF1H5HLgLcu8rSf0S02hK1ny3aeDo6VEEAAAQQQQAABBBDIAAEd+T5di3VBTh+rvOOOO2Tq1Kkxw5YC6rq7d++W0047rchjlfr3H3/8Ua6//nozjYAzAmUmj1pJkEvXacHnIIAAAggggAACCCCQuABBLobZd999Z0ai1JEidZ636667znVtZ728vDyZP3++mTQ8cnF60vbu3SurV68WhY83j5yzzeHDhxOaR87p6TtZ55HjHbnELwRsgQACCCCAAAIIIIBANAHreuScRxR1om4dxr9atWqux1ZQUCDdunUTfQzTbXoC7a3T6QP0EcrLL79c3nrrLTnjjDPMnHDZ2dmyceNG1/fvnAFSWrRoIQsXLjSjYOoyceJEM2VB5L/r33bt2mXev1u3bl2x3ulzO1C/AcmW7Th1EUAAAQQQQAABBBBAoKiAdUFuwYIFZhJvLxNr60iU2mOnvWeR0w9o8NL323TRQKaTdTuLvvvWv39/866b/u3iiy82j2lqD6COkvnDDz+YicVDe/l08nGdkHzDhg1hn6W9fb1795aZM2d6KnOijdSWQOa3nIl6sD4CCCCAAAIIIIAAAieDgHVB7vHHHzdzvnXv3l1efvnlmHWk4UunHbj33nvNZOA6/YAONrJ9+3Y5cuSIlCxZUp5++mm55557zBxyzqJBrWfPnias6VKpUiXRHj59306X3NxcGTlyZJH37pYsWSKdOnUyc9PpZ1WuXFm2bdtmPrt69ermPbz69esntV35DUi2bJdULHaGAAIIIIAAAggggEBABKwLchqwXnjhhbgDnYTWj74nN2DAANOjpgFOQ1bz5s1l9OjRZuRLt+XAgQMyZcoU0d45nZ5Al3r16pneNu0RLFWqlOt2kZ9Vvnx5M8LmsGHDoj4GWpy2ZEsg81vO4tiwLQIIIIAAAggggAACQRWwLsgFtSL8HpffgGTLdn5d2A4BBBBAAAEEEEAAgSALEOQsr11bApnfcmr1bNp+TGatPSIfbzoq+YePmxqrUEakQc0syWlUWmpVKWl5LVJ8BBBAAAEEEEAAAQQSEyDIJeaVcWv7DUi2bKchrt+0g3Ko4KcAF7mUySoh47uXJcxlXMukQAgggAACCCCAAAKpFCDIpVI3Dfu2JZD5Lecjrx2SVXkFMSWz62bJQ+3LpEGbj0AAAQQQQAABBBBAIDMECHKZUQ++S+E3INmyXZsx+YWPU0ZD0scsX88t79uQDRFAAAEEEEAAAQQQsE2AIGdbjUWU15ZAlu5yWl6tFB8BBBBAAAEEEEAAgZgCBDnLG0i6A5Itn2d5tVJ8BBBAAAEEEEAAAQQIckFuA7YEq3SXM8h1zrEhgAACCCCAAAIIIECPnOVtIN0ByZbPs7xaKT4CCCCAAAIIIIAAAvTIBbkN2BKs0l3OINc5x4YAAggggAACCCCAAD1ylreBdAckWz7P8mql+AgggAACCCCAAAII0CMX5DZgS7BKdzmDXOccGwIIIIAAAggggAAC9MhZ3gbSHZBs+TzLq5XiI4AAAggggAACCCBAj1yQ24AtwSrd5QxynXNsCCCAAAIIIIAAAgjQI2d5G0h3QLLl8yyvVoqPAAIIIIAAAggggAA9ckFuA7YEq3SXM8h1zrEhgAACCCCAAAIIIECPnOVtIN0ByZbPs7xaKT4CCCCAAAIIIIAAAvTIBbkN2BKs0l3OINc5x4YAAggggAACCCCAAD1ylreBdAckWz7P8mql+AgggAACCCCAAAII0CMX5DZgS7BKdzmDXOccGwIIIIAAAggggAAC9MhZ3gbSHZBs+TzLq5XiI4AAAggggAACCCBAj1yQ24AtwSrd5QxynXNsCCCAAAIIIIAAAgjQI2d5G0h3QLLl8yyvVoqPAAIIIIAAAggggAA9ckFuA7YEq3SXM8h1zrEhgAACCCCAAAIIIECPnOVtIN0ByZbPs7xaKT4CCCCAAAIIIIAAAvTIBbkN2BKs0l3OINc5x4YAAggggAACCCCAAD1ylreBdAckWz7P8mql+AgggAACCCCAAAII0CMX5DZgS7BKdzmDXOccGwIIIIAAAggggAAC9MhZ3gbSHZBs+TzLq5XiI4AAAggggAACCCBAj1yQ24AtwSrd5QxynXNsCCCAAAIIIIAAAgjQI2d5G0h3QLLl8yyvVoqPAAIIIIAAAggggAA9ckFuA7YEq3SXM7TON20/JrPWHpGPNx2V/MPHzZ8qlBFpUDNLchqVllpVSga5iXBsCCCAAAIIIIAAAgEUoEfO8kpNd0Cy5fOcatUQ12/aQTlU8FOAi1zKZJWQ8d3LEuYsPw8oPgIIIIAAAgggcLIJEOQsr3FbglW6y+lU6yOvHZJVeQUxazm7bpY81L6M5S2B4iOAAAIIIIAAAgicTAIEOctrO90ByZbPc6q1zZj8wscpo1W1Pmb5em55y1sCxUcAAQQQQAABBBA4mQQIcpbXti3BKt3ldKrV7+da3iwoPgIIIIAAAggggEDABQhyllew36AS9O0IcpY3bIqPAAIIIIAAAgggEFOAIGd5Awl6IPN7fAQ5yxs2xUcAAQQQQAABBBAgyAW5DfgNOkHfjiAX5FbPsSGAAAIIIIAAAgjQI2d5Gwh6IPN7fAQ5yxs2xUcAAQQQQAABBBCgRy7IbcBv0An6dgS5ILd6jg0BBBBAAAEEEECAHjnL20DQA5nf4yPIWd6wKT4CCCCAAAIIIIAAPXJBbgN+g07QtyPIBbnVc2wIIIAAAggggAAC9MhZ3gaCHsj8Hh9BzvKGTfERQAABBBBAAAEE6JELchvwG3SCvh1BLsitnmNDAAEEEEAAAQQQoEfO8jYQ9EDm9/gIcpY3bIqPAAIIIIAAAgggQI9ckNuA36AT9O0IckFu9RwbAggggAACCCCAAD1ylreBoAcyv8dHkLO8YVN8BBBAAAEEEEAAAXrkgtwG/AadoG9HkAtyq+fYEEAAAQQQQAABBOiRs7wNBD2Q+T0+gpzlDZviI4AAAggggAACCNAjF+Q24DfoBH07glyQWz3HhgACCCCAAAIIIECPnOVtIOiBzO/xJSPIbdp+TGatPSIfbzoq+YePm11WKCPSoGaW5DQqLbWqlLS89VB8BBBAAAEEEEAAAVsFCHK21tz/ldtv0An6dsUNchri+k07KIcKfgpwkUuZrBIyvntZwpzl5w/FRwABBBBAAAEEbBUgyNlacwS5sJp7e3B515r0G1gfee2QrMoriNk6sutmyUPty1jegig+AggggAACCCCAgI0CBDkbay2kzH6DStC3c4j8HmebMfmFj1NGayL6mOXrue4B0vJmRfERQAABBBBAAAEEMlyAIJfhFRSveH6DStC3K26Q8+sTr774OwIIIIAAAggggAACyRAgyCVD8QTuw2/gCPp2BLkT2Cj5aAQQQAABBBBAAIGUCxDkUk6c2g8IeiDze3wEudS2O/aOAAIIIIAAAgggcGIFCHIn1r/Yn+436AR9O4JcsZsWO0AAAQQQQAABBBDIYAGCXAZXjpeiBT2Q+T0+gpyX1sM6CCCAAAIIIIAAArYKEORsrbn/K7ffoBP07Qhyljdsio8AAggggAACCCAQU8CqIPf+++/LNddcIwUF0ef3WrRokbRp0ybsoLdu3SoPP/ywzJo1S/bv3y+lS5eW5s2by+jRo6Vu3bquQAcOHJApU6bI2LFjZcuWLWadevXqydChQ6Vjx45SqlQp1+3y8vJkwIABsmzZMjly5IiUL19ecnJyZNiwYVKtWrWkN8egBzK/x0eQS3pTY4cIIIAAAggggAACGSRgVZCbPHmy9OrVKyZfZJD78ssvpWXLlrJ582YpWbKkVK1aVXbu3GlC1qmnnipz5syRG264IWyfGuL0c6ZNm2b+vVKlSiY87t692/x3bm6ujBw50gTC0OXdd9+V9u3by549e8zfKleuLNu2bZNjx45J9erVRctWv379pFa/36AT9O0IckltZuwMAQQQQAABBBBAIMMErApy/fr1kwkTJsikSZPk7rvvjku5b98+6dChgyxfvly6du1qttMeMg1qo0aNkuHDh8tFF11k/h7aW6a9cP3795caNWrI4sWLpU6dOnL8+HHTy9a5c2fZu3evLFy4UNq2bVtYBu31a9asmWzYsMH0vg0ZMsSEOV23d+/eMnPmTPP3BQsWSIUKFeKW3esKQQ9kfo+PIOe1BbEeAggggAACCCCAgI0C1gQ5fSSyXbt2or1eK1eulCuuuCKu99KlS+X666+X2rVry6pVq+Tcc88t3EZ75G699VaZO3euCYd9+vQxf9uxY4dkZ2fLxo0b5c033zS9eaHL9OnTpVu3btKiRQsT5sqVK2f+PHHiROnbt2+Rf9e/7dq1S1q1aiXr1q1z3WfcA4mxgt+gE/TtCHLFaVVsiwACCCCAAAIIIJDpAtYEOQ1YTZo0kfz8fPnggw9Mb1m8xenBGzx4sDz22GNFVtfeMX3fTcPe/PnzpWzZsrJixQrz/tyll15qeuAqVqwYtp32vDVq1Mj06uk7e9pbd/DgQbMfDX4a9DQgRi4jRowwvXQa9saPHx+v6J7/HvRA5vf4CHKemxArIoAAAggggAACCFgoYE2Q++STT+Tqq682AUsHKRk4cKC89957hlyD1eOPPy5XXnmllChRwvyb04P39ttvm5Cmj1hGLuvXr5errrpKzjnnHFm7dq15f27cuHHmHbguXbqYUObsz9lWH9ds3bq16Rl03sdzQqa+D6f/3rBhwyKf9cYbb5hHMfUY9HHNZD1e6TfoBH07gpyFVyOKjAACCCCAAAIIIOBZwJog5/Se6Ttuhw8fllNOOUXOOuss2b59uxm4RJfQd9O+++47E5q++OIL07N23XXXFUHR4KUhUNddvXq1CYlOL16snrMePXqYgVD0PTsNlPoZzqOeTi+dl9DouZZirBj0QOb3+AhyyWhd7AMBBBBAAAEEEEAgUwWsCXL6WKI+nqgjTz733HNy2223mSkANMTp+2k6OIkOSKJTDNxyyy1mtMjIkBZZCW7rRIY0t4qLXMetZ48gVz6MwG8g87sdQS5TLzmUCwEEEEAAAQQQQCAZAlYEuaNHj5qesldeeUUefPBB+eMf/xj2yKMGOJ3f7dFHH5XLL79c3nrrLfMuXdCCnAbGyGXAWxd5agejW2wIWy/o2zkHm+7j9FQZrIQAAggggAACCCAQSAF9wi9dixVBzguG0yumvXT67pzO4UaQ+/9yBLnYrShZPl7aKusggAACCCCAAAIIBFOAIOejXiMfk9RRLXX0yU8//TTqdAXONjrRt4a/Sy65xIwsqY9wRhvpUovmPFqp883df//9ZrLxpk2bmlJHG1HTCZpVqlSRNWvWhE2F4ONwCzfx++hh0LdzgNJ9nMWpS7ZFAAEEEEAAAQQQQMCrgDU9cvp45Z49e+TMM88078ZFLs60ABrKdOASnehb551j1MqfpN4efGLfWTtRgepEfa7XE5D1EEAAAQQQQAABBBDwI2BFkHNGhdS526IN76+jRV5zzTVy/vnnm14x/d9488jNmDFDunbtmtA8ck7vm46cmcg8ck5PH/PIxW6myQqc9Mj5uRywDQIIIIAAAggggIAtAlYEuR9++EFatGghH330kRnsZPjw4WGDnejIlXfddZdMnTpVOnfubAZFycrKkqVLl5qQVrt2bVm1alXY44y6jU7cPXfuXJkwYYL06dPH1JnOCZednS0bN240E3y3bNkyrC51brlu3bqZ8ixcuFDKlStn/q4jZ2pIi/x3/duuXbukVatWsm7dOtd9FqexpLvHyZbPI8gVp1WxLQIIIIAAAggggECmC1gR5BTRCVCR0w9oL532dj355JPmsct33nlHfvOb3xh3nbxbJwJfvny5meD72WefldNPP110G50DTgNhrVq1zDbVq1cvrCt9902nM9D37DSsXXzxxWZqA52PToOiBst58+aFTTKuj3Y2a9ZMNmzYYEbQHDRokAl5e/fuld69e8vMmTOTPhm4FtiWYJXucp7IILdp+zGZtfaIfLzpqOQfPm6KUqGMSIOaWZLTqLTUqlIy068LlA8BBBBAAAEEEEAgwwWsCXLag/bAAw+IhixddGJwDW46YMmxY8fk1FNPlTlz5sgNN9wQRq6DnbRt21a++eYbMwdd1apVZefOnWb+uWjbaFDr2bOnCWu6VKpUSQoKCkTfv9MlNzdXRo4cKaVLlw77rCVLlkinTp3M1Af6Nx050ymfBsVFixZJ/fr1k9ok0h2QbPm8ExXkNMT1m3ZQDhX8FOAilzJZJWR897KEuaSeBewMAQQQQAABBBA4+QSsCXJaNdorpqNL6oiSH374oQlwGuhycnJk2LBhUq1aNdca1N6yhx9+2EwWvn//fhOydETL0aNHS926dV230V67KVOmmOC4ZcsWs069evVMb1vHjh1dB1zRdfLy8mTAgAGm907DopfyFafZ2RKs0l3OExXkHnntkKzKK4hZpdl1s+Sh9mWKU+1siwACCCCAAAIIIHCSC1gV5E7yunI9/HQHJFs+70QFuTZj8gsfp4zWXvUxy9dzw0cRpW0jgAACCCCAAAIIIJCIAEEuEa0MXNeWYJXucp6oIOf3ODOwaVEkBBBAAAEEEEAAgQwWIMhlcOV4KZrf4BD07QhyXloP6yCAAAIIIIAAAgjYKkCQs7Xm/q/cQQ9kfo+PIGd5w6b4CCCAAAIIIIAAAjEFCHKWNxC/QSfo2xHkLG/YFB8BBBBAAAEEEECAIBfkNhD0QOb3+GwMcsw/F+QzlWNDAAEEEEAAAQSSK0CPXHI90743v0En6NvZFuSYfy7tpw4fiAACCCCAAAIIWC1AkLO6+kSCHsj8Hp9tQY755yw/ESk+AggggAACCCCQZgGCXJrBk/1xfoNO0LezLcgx/1yyzwz2hwACCCCAAAIIBFuAIGd5/QY9kPk9PtuCXHGP0/JmTPERQAABBBBAAAEEEhQgyCUIlmmr+w0AQd+OIJdpLZXyIIAAAggggAACCCRTgCCXTM0TsK+gBzK/x0eQOwGNkY9EAAEEEEAAAQQQSJsAQS5t1Kn5IL9BJ+jbEeRS097YKwIIIIAAAggggEBmCBDkMqMefJci6IHM7/ER5Hw3KTZEAAEEEEAAAQQQsECAIGdBJcUqot+gE/TtCHKWN2yKjwACCCCAAAIIIBBTgCBneQMJeiDze3wEOcsbNsVHAAEEEEAAAQQQIMgFuQ34DTpB344gF+RWz7EhgAACCCCAAAII0CNneRsIeiDze3wnU5DbtP2YzFp7RD7edFTyDx83h16hjEiDmlmS06i01KpS0vJWTvERQAABBBBAAAEEIgUIcpa3Cb9BJ+jbnSxBTkNcv2kH5VDBTwEucimTVULGdy9LmLP8PKf4CCCAAAIIIIAAQS5gbSDogczv8Z0sQe6R1w7JqryCmK06u26WPNS+TMBaPoeDAAIIIIAAAgic3AL0yFle/36DTtC3O1mCXJsx+YWPU0ZryvqY5eu55S1v6RQfAQQQQAABi6bgPQAAIABJREFUBBBAIFSAIGd5ewh6IPN7fCdLkCuuj+XNn+IjgAACCCCAAAInrQBBzvKq93sjH/TtCHLhDfvtwfTIWX6qU3wEEEAAAQQQQCBMgCBneYMIeiDze3wEOYKc5ac2xUcAAQQQQAABBGIKEOQsbyB+g07QtyPIEeQsP7UpPgIIIIAAAgggQJALchsIeiDze3wEOYJckM97jg0BBBBAAAEEEKBHzvI24DfoBH07ghxBzvJTm+IjgAACCCCAAAL0yAW5DQQ9kPk9PoIcQS7I5z3HhgACCCCAAAII0CNneRvwG3SCvh1BjiBn+alN8RFAAAEEEEAAAXrkgtwGgh7I/B4fQY4gF+TznmNDAAEEEEAAAQTokbO8DfgNOkHfjiBHkLP81Kb4CCCAAAIIIIAAPXJBbgNBD2R+j48gR5AL8nnPsSGAAAIIIIAAAvTIWd4G/AadoG9HkCPIWX5qU3wEEEAAAQQQQIAeuSC3gaAHMr/HR5AjyAX5vOfYEEAAAQQQQAABeuQsbwN+g07QtyPIEeQsP7UpPgIIIIAAAgggQI9ckNtA0AOZ3+MjyBHkgnzec2wIIIAAAggggAA9cpa3Ab9BJ+jbEeQIcpaf2hQfAQQQQAABBBCgRy7IbSDogczv8RHk4ge5TduPyay1R+TjTUcl//Bxs0GFMiINamZJTqPSUqtKySCfOhwbAggggAACCCBgtQA9clZXn4jfoBP07QhysYOchrh+0w7KoYKfAlzkUiarhIzvXpYwZ/n1geIjgAACCCCAQHAFCHKW123QA5nf4yPIxQ5yj7x2SFblFcRs/dl1s+Sh9mUsP0MoPgIIIIAAAgggEEwBgpzl9eo36AR9O4Jc7CDXZkx+4eOU0U4Bfczy9dzylp8hFB8BBBBAAAEEEAimAEHO8noNeiDze3wEudhBrriulp82FB8BBBBAAAEEELBegCBneRX6vSEP+nYEOYKc5ac2xUcAAQQQQAABBGIKEOQsbyBBD2R+j48gR5Cz/NSm+AgggAACCCCAAEEuyG3Ab9AJ+nYEOYJckM97jg0BBBBAAAEEEKBHzvI2EPRA5vf4CHIEOctPbYqPAAIIIIAAAgjQIxfkNuA36AR9O4IcQS7I5z3HhgACCCCAAAII0CNneRsIeiDze3wEOYKc5ac2xUcAAQQQQAABBOiRC3Ib8Bt0gr4dQY4gF+TznmNDAAEEEEAAAQTokbO8DQQ9kPk9PoIcQc7yU5viI4AAAggggAAC9MgFuQ34DTpB344gR5AL8nnPsSGAAAIIIIAAAvTIWd4Ggh7I/B4fQY4gZ/mpTfERQAABBBBAAAF65ILcBvwGnaBvR5AjyAX5vOfYEEAAAQQQQAABeuQsbwNBD2R+j48gR5Cz/NSm+AgggAACCCCAAD1yQW4DfoNO0LcjyBHkgnzec2wIIIAAAggggAA9cpa3gaAHMr/HR5BLfZDbtP2YzFp7RD7edFTyDx83H1ihjEiDmlmS06i01KpS0vKzi+IjgAACCCCAAAKZK0CQy9y68VQyv0En6NsR5FIb5DTE9Zt2UA4V/BTgIpcyWSVkfPeyhDlPZzErIYAAAggggAACiQsQ5BI3y6gtgh7I/B4fQS61Qe6R1w7JqryCmOdCdt0seah9mYw6XygMAggggAACCCAQFAGCnOU16TfoBH07glxqg1ybMfmFj1NGO4X0McvXc8tbfoZRfAQQQAABBBBAIDMFCHKZWS+eSxX0QOb3+AhyqQ1yxa0Xzw2cFRFAAAEEEEAAAQRcBawKckePHpWlS5fKyJEj5cMPP5Rjx45JyZIlpXHjxjJixAi58sorpUSJEmEHunnzZmnatKls3749ahMYNWqUDBw4MOzvBw4ckClTpsjYsWNly5Yt5m/16tWToUOHSseOHaVUqVKu+8vLy5MBAwbIsmXL5MiRI1K+fHnJycmRYcOGSbVq1ZLeDP3eUAd9O4IcQS7pJxs7RAABBBBAAAEEMkjAmiCnoahfv34yadIkw6cB6ayzzpLvv/9e9u/fb/4tNzfXhLzSpUsXEq9YsUKaN28ux4+7D8qgK0YGOQ1xvXr1kmnTppn9VKpUSQoKCmT37t1RP0f/8O6770r79u1lz549pgyVK1eWbdu2mcBZvXp1WbRokdSvXz+p1R/0QOb3+AhyBLmknmjsDAEEEEAAAQQQyDABa4Lc9OnTpVu3bnLmmWfK7NmzTTjT3jftpZs6darcddddJqzNmzdPOnToUMg8efJkE8r69u0r48eP98SvvXD9+/eXGjVqyOLFi6VOnTpm39rL1rlzZ9m7d68sXLhQ2rZtW7i/rVu3SrNmzWTDhg2m923IkCEmzOm6vXv3lpkzZ5q/L1iwQCpUqOCpHF5W8ht0gr4dQY4g5+X8YR0EEEAAAQQQQMBWASuC3MGDB83jjG+++aZMmDBB+vTpE+atIUsfeXz00UfNehr0srKyzDo9e/aUF154QTQI3nrrrXHraceOHZKdnS0bN240n9eyZcuwbZxA2aJFCxPmypUrZ/4+ceJEExYj/13/tmvXLmnVqpWsW7fOdZ9xCxVjhaAHMr/HR5DL3CDnd/45v9sV5/xiWwQQQAABBBBAIFMFrAhyO3fuNI8sfvnll+YduUsvvbSI5xtvvGF6yK6++mrTi6a9XvrIZbt27cwjjytXrpQrrrgibj04j2LqZ2gPXMWKFcO20Z63Ro0aiT5++f7775veutCgGS0w6jt82kuXSM9g3MKKiN+gE/TtCHKZGeT8zj/ndzsv5xDrIIAAAggggAACNgpYEeS8wM6YMUO6du0aFuSc0KXbz507V5566inz6KW+s1a7dm0ZPnx4kYFLxo0bZ96169Kli+nFixw8Zd++fdK6dWsTDvWdtzZt2oj24jVp0sS8D6f/3rBhQ09B08txxVsn6IHM7/ER5DIzyPmdf87vdvHOH/6OAAIIIIAAAgjYKhCIIKe9YzfeeOP/a+9coK4qyj4+KqgEpiJyKShQdH2CuWiFCmJoKteUvEFimddWIKmFiogBuvzAC3YBcSVLW2UiEqkoIQp5BUESSM0CVCQzWKhBICYiIH7rP3z77bzvey77zN57ztn7/PZaLew9e+aZ+c2zZ89/z8wzZv78+XZ/2o033mjbY9myZVbYBXvpJODatm1bL0CKxJ8CqCh4ii4FVNHyzWIzZxdeeKENhBIESVm1alXdbF8wS9fQIVasWGF69+5tWrVqZZYuXWratWsXi8+4Cp2sp0PIVaeQcz1/zjVdLA8ZmUAAAhCAAAQgAIEqJJB6Iaf9cZMmTbLHB0gcLVy40HTu3NmiDmbp9N/aQzd69Gi7p00BUjSbJhG3bds2e3SBfpPgayjS8rVZw3vCiLQw97j4R9YFmWv9EHLVKeRc29M1ncszRRoIQAACEIAABCCQBgKpFnIScXfddZe56qqrLOtZs2bZpZLBpeiTEyZMMOeee669L/dYAt0TBC754he/aBYtWmQ6deqEkGvgtU+P2TNTmTZhlLbyugoV3+nSxjUNnTBlhAAEIAABCEAAAi4EUivkdK7cbbfdZsaOHWsPBVdkSs2UNdzTVgzK+vXr7WHhOvBbESoVWbKaZ+Q0q9fwGjX/f0K1++39Vte7L+vpgspmvZ6+65c2rqEeDm6CAAQgAAEIQAACMRHIF5QxpqwbZZNKIadolDqCQOfHaZZNSyg161aOiBOJfIFLFFlSSy3HjBljZ/PyXYHY04zfyJEjzdq1a60g1LV48WJ7/lzDK1haqT16S5YsMW3atCm7TRFyhZE1FKppExy+BZmrvbRxLfshIwEEIAABCEAAAhCIQAAhVwSeIlEqsInOZFPgEO1169mzZ94UWnq5efNmc8ABBzRaVqkEH374oRk4cKA9RiCIQEnUyvooWVpZ/ElOKx/XJZkBDdf0vtNF6IdJCgEIQAACEIAABKqaQKpm5NasWWOFl86T6969uz1SoGPHjnkBb9y40UasXLlypXn44YfN2Wef3ei+YCZt69atNkiKFHSpc+SCNDt27CjrHLlgpo9z5PwIo7QJDt8Cx9Ve2rhWde9L4SAAAQhAAAIQgEAEAqkRctrH1qdPHyvi+vbtax588EHTsmXLglXftWuXueCCC8zMmTPN4MGD7fLL3GAnmq3T8QFaQnn88cfbowsOPPBAeybcySefbF5//XW7b65///71bAQBUvr162dmz55to2Dqmjp1qj2yoOHf9dumTZvs/jvNIubLM0L7cSD4/8NrODOWNsHhKqx8p0sb1yjPFmkhAAEIQAACEIBANRNIhZCTKJNI0nlvp556qp1hk+gqdSkS5WmnnWY0e9bw+AEJL+1v0yVBNmjQoLrstPftmmuusXvd9NsxxxxjJPwWLFhgzjvvPPPBBx/Yg8VzZ/m05FNCc/Xq1fVsabZv+PDhZsaMGfUOKy9V9rC/+x7Ip8Ve2gQHXOt7fFxLVsM+R9wHAQhAAAIQgAAE0kYgFUIuCBSiM99KXVpOOXfuXNOiRQsrvoLjCXQYuGbkFGzk3XffNYp6qWiXkydPNiNGjKgXKEVC7bLLLrNiTdehhx5qJCa1307X1VdfbW655ZZG++4ef/xxM2TIEHs2nWy1bt3abNiwwch2hw4d7D68bt26lapCWb+nRQD4LidCLllh5Ls9Xe2V9TBxMwQgAAEIQAACEEgRgVQIuWnTpplhw4aFwpor5IIE2ic3atQoO6MmASeRpeWZt99+u+nSpUvefD/++GNz7733Gs3OaVmnrq5du9rZNp1Vt88+++RN19BW8+bNzdChQ8348eNN+/btQ9WhnJtcB7hZT4eQQ8iV8xxxLwQgAAEIQAACEEgbgVQIubRB9VnerAsy1/oh5BByPp9DbEEAAhCAAAQgAAHfBBByvonHbM9V6GQ9HUIOIRfzo0Z2EIAABCAAAQhAoKoIIOSqqjnKL0zWBZlr/RByCLnynyZSQAACEIAABCAAgfQQQMilp63yltRV6GQ9HUIOIZfyR5viQwACEIAABCAAgaIEEHIpd5CsCzLX+iHkEHIpf7QpPgQgAAEIQAACEEDIZdkHXIVO1tMh5BByWX7uqRsEIAABCEAAAhBgRi7lPpB1QeZaP4QcQi4gsObd3ebBpTvNS2s+Ndt2fGb/3GI/Y7of3sQM7dHUdG67d8p7AYoPAQhAAAIQgEAtEkDIpbzVXYVO1tMh5BByIiARd+Vvt5tPdu0RcA2v/ZrsZaZ8b3/EXMr7QYoPAQhAAAIQqEUCCLmUt3rWBZlr/RByCDkRuPnRT8xzK3cVfcpP7tLEjD1zv0b3MJOX8s6R4kMAAhCAAAQyTgAhl/IGdhU6WU+HkEPIicAZd2yrW05Z6FHXMsvHrm5e72dm8lLeMVJ8CEAAAhCAQA0QQMilvJGzLshc64eQQ8iJgKv/MJOX8o6R4kMAAhCAAARqgABCLuWN7DpQzXo6hBxCLoqQYyYv5R0jxYcABCAAAQjUAAGEXMobOeuCzLV+CDmEXBQh5+p3UWbyUt4VUXwIQAACEIAABDwTQMh5Bh63OdcBZ9bTIeQQcpUQcq4zeXH3C+QHAQhAAAIQgED2CSDkUt7GWRdkrvVDyCHkKiHkovpryrsjig8BCEAAAhCAgEcCCDmPsJMw5TpwzHo6hBxCDiGXRI9DnhCAAAQgAAEIVAsBhFy1tIRjObIuyFzrh5BDyCHkHDsVkkEAAhCAAAQgkAoCCLlUNFPhQroKnaynQ8gh5BByKe/cKD4EIAABCEAAAkUJIORS7iBZF2Su9UPIIeQQcinv3Cg+BCAAAQhAAAIIuSz7gKvQyXo6hBxCDiGX5Z6PukEAAhCAAAQgwIxcyn0g64LMtX4IOYRc2oTcmnd3mweX7jQvrfnUbNvxmW3AFvsZ0/3wJmZoj6amc9u9U95bUXwIQAACEIAABOIkgJCLk2YF8nIVOllPh5BDyKVJyEnEXfnb7eaTXXsEXMNrvyZ7mSnf2x8xV4E+FpMQgAAEIACBaiWAkKvWlglZrqwLMtf6IeQQcmkScjc/+ol5buWuok/9yV2amLFn7heyZ+A2CEAAAhCAAASyTgAhl/IWdhU6WU+HkEPIpUnInXHHtrrllIW6JC2zfOzq5invsSg+BCAAAQhAAAJxEUDIxUWyQvlkXZC51g8hh5BLk5CL6ueqK3vsKtQJYxYCEIAABCBQIQIIuQqBj8us6wAw6+kQcgi5WhJy7LGLq0clHwhAAAIQgEB6CCDk0tNWeUuadUHmWj+EHEKuloQce+xS3pFTfAhAAAIQgIADAYScA7RqSuIqdLKeDiGHkKslIcceu2rqlSkLBCAAAQhAwA8BhJwfzolZybogc60fQg4hV0tCLupzklgHRcYQgAAEIAABCCRGACGXGFo/GbsO4LKeDiGHkEPINe6Dnh5D1Es/PTNWIAABCEAAAskTQMglzzhRC1kXZK71Q8gh5BBy4YQc0S4T7aLJHAIQgAAEIJAYAYRcYmj9ZOwqdLKeDiGHkEPIlRZyRLv0009jBQIQgAAEIJAEAYRcElQ95pl1QeZaP4QcQg4hV1rIEe3SY2eNKQhAAAIQgEDMBBByMQP1nZ2r0Ml6OoQcQg4hV1rIEe3Sd4+NPQhAAAIQgEB8BBBy8bGsSE5ZF2Su9UPIIeQQcqWFXNTnqyKdHkYhAAEIQAACELAEEHIpdwTXgVjW0yHkEHIIOYRcyrt3ig8BCEAAAhAoSgAhl3IHybogc60fQg4hh5BLVsgR7TLlLw+KDwEIQAACqSeAkEt5E7oKnaynQ8gh5BByyQk5ol2m/MVB8SEAAQhAIBMEEHIpb8asCzLX+iHkEHIIueSEXJRol8zkpfylQ/EhAAEIQKBqCCDkqqYp3AriKnSyng4hh5BDyCUn5FyjXTKT59bPkwoCEIAABCCQjwBCLuV+kXVB5lo/hBxCDiGXnJBzfS6jzOSlvKum+BCAAAQgAIHYCSDkYkfqN0PXAVXW0yHkEHIIueoTcq4zeX57VaxBAAIQgAAE0kEAIZeOdipYyqwLMtf6IeQQcgi56hNyUZ/nlHfXFB8CEIAABCAQKwGEXKw4/WfmOjDKejqEHEIOIYeQ898jYxECEIAABCDgjwBCzh/rRCxlXZC51g8hh5BDyGVLyBHtMpFXCJlCAAIQgECKCSDkUtx4tTBQRcglI8jgWl1caY/i7UG0y5S/qCg+BCAAAQgkQgAhlwhWf5m6DgCzno4ZuWSEClyT4er6PNZKe0SJdslMnr/3EZYgAAEIQMAvAYScX96xW3MdAGY9Xa0McH23I1wRcpVYCeAa7ZKZvNhfOWQIAQhAAAJVRAAhV0WN4VIU3wP5tNhDcCQjOOCaDFfX54r2KN4ezOS5vFVIAwEIQAACaSGAkEtLSxUop+sAMOvpGOAmIzjgmgxX1+eR9ijeHszkpfwFR/EhAAEIQKAoAYRcyh3EdQCY9XQMcJMRHHBNhqvr80h7JNMeUWbyUv5KofgQgAAEIJAiAgi5FDVWvqK6DgCzno4BbjIDXLgmw9X1eaQ9kmkP15m8lL9OKD4EIAABCKSMAEIuZQ3WsLiuA8Csp2OAm8wAF67JcHV9HmmP6mwPlco1WqZrupS/yig+BCAAAQg4EEDIOUCrpiSuA8Csp2OAm8wAF67JcHV9HmmP6mwP12iZrumq6Z1EWSAAAQhAwB8BhJw/1olYch0AZj0dA9xkBrhwTYar6/NIe1Rne7jusXNNF2UGMJEXE5lCAAIQgIAXAgg5L5iTM+I6AMx6Oga4yQxw4ZoMV9fnkfaozvZw3WPnmo6ZvOTeseQMAQhAoJoJIOSquXVClM11AJj1dAxwkxngwjUZrq7PI+1Be4gAM3khXpbcAgEIQCCDBBByKW9U1wFg1tMxwE1mgAvXZLi6Po+0B+0hAszkpfxFTvEhAAEIOBJAyDmCq5ZkrgPArKdjgJvMABeuyXB1fR5pD9pDBFz9h5m8anmTUw4IQAACbgQQcm7cqiaV6ws86+kY4CYzwIVrMlxdn0fag/aIIuSYyauaVzkFgQAEIOBEACHnhK1wopUrV5pRo0aZBQsWmJ07d5rmzZuboUOHmvHjx5v27dvHbM39S6zrwDEt6RjgJjPAhWsyXF2fK9qD9ogi5Fz9rpIzeZyzF/swggwhAIEUE0DIxdh4zz//vDnzzDPNli1bTNOmTU3r1q3Nhg0bzO7du02HDh3MnDlzTLdu3WK0iJALYD49pnlerq4DFdLtwQnX4o9rQz6+/QYhh5CrhJCr1EzenuicH5tPduV/LvdrspeZ8r39Tee2e8f6niUzCEAAAtVKACEXU8usW7fO9OnTx6xevdrOvt1www1WzG3dutUMHz7czJgxw/7+yCOPmBYtWsRkFSGHkPsolC/FJTgQDgiHSggH3wLZ1R7PR/HnI8pMnnKOkt51Js93ulAdOjdBAAIQ+H8CCLmYXGHq1KnmiiuuMP369TOzZ882zZo1q8t506ZNZsCAAWb58uVm3rx5pn///jFZRcgh5BByuQ9TXILVdSDvOx3CAWGdJmHtOpMXtLJretdz9nyni21gQEYQgEDNEEDIxdDU27dvN+ecc44VadOnTzff+c53GuU6ceJEO0snsTdlypQYrO7JwvfAMS32GOAmM8CFazJcXZ8r2oP2qIX3QFQ/d53J851O9Zy6YIeZ/5ddZtuOz+o59wH7G3Pa0U3ND/vum3f84JoutsEIGUEAAhUhgJCLAft7771nTjjhBLsfTvvkjj322Ea5/uEPfzCDBg0yJ510kpk7d25syytdB4BZTxf1xZ91Pq71gyvCoRaEA89HtvzcdSbPdzqJsdnLdxYdlZzVvbGYc00Xw/CHLCAAgQoTQMjF0ACrVq0yJ554os3phRdeMEcddVSjXFesWGF69+5tWrVqZZYuXWratWsXg2Vm5AKIBOUo7k5xLTlEyGVrgOsqWEi3xw/od+h38vmB6/MRRjhqZu7RkfWDe7mme+u93eZ/H91u3tlUf/YvaNUuX9zH/Kj/vubwNvmDx0RNH8sgiEwgUOMEEHIxOEAYkRbmHpeiuL4wsp4OwZGM4IBrMlxdn0fag/YQAVf/SUs6/DwZP7942raCIi5XzN154f55hydR07uMeUgDAQjUJ4CQi8Ejwoi0MPe4FCUtL2Lf5eTFn8yLH67JcHV9PmgP2gMh1/jNGdcKBNfnMuvpovY7YQTgCUc0MTcP3q9e4/pO5zImIw0EfBNAyMVAPIxIC3OPS1Gy/sJwrV/UF42r3ayngyvCoRaEg+tzzPORzPMB12S44ufFubqMyUgDAd8EEHIxEF+7dq3p1auXzWnx4sXmsMMOa5RrIOTatm1rlixZYtq0aVO25e7du5edhgQQgAAEIAABCEAAAhCAgB8COm7M14WQi4G0r6iVCLkYGossIAABCEAAAhCAAAQgkBABhFxCYJPKNsw5cjpDTmfJxX2OXFJ1Il8IQAACEIAABCAAAQhAoHoJMCMXU9tMnTrVirR+/fqZ2bNnm2bNmtXlvGnTJjNgwAAjha5Dw/v37x+TVbKBAAQgAAEIQAACEIAABGqRAEIuplZft26d6dOnj1m9erUZN26cGT16tBVzW7duNcOHDzczZsyI/TDwmIpONhCAAAQgAAEIQAACEIBAyggg5GJssMcff9wMGTLEbNu2zTRt2tS0bt3abNiwwezevdt06NDBzJkzx3Tr1i1Gi2QFAQhAAAIQgAAEIAABCNQiAYRczK2+cuVKM2rUKLNgwQKzc+dO07x5czN06FAzfvx40759+5itkR0EIAABCEAAAhCAAAQgUIsEEHK12OrUGQIQgAAEIAABCEAAAhBINQGEXKqbj8JDAAIQgAAEIAABCEAAArVIACFXi61OnSEAAQhAAAIQgAAEIACBVBNAyKW6+Sg8BCAAAQhAAAIQgAAEIFCLBBBytdjq1BkCEIAABCAAAQhAAAIQSDUBhFyqm4/CQwACEIAABCAAAQhAAAK1SAAhl7JW15EGr776qnn77bdN165dzZFHHmn22Wcf89lnn5lnn33WjBgxwh5KruvQQw81kydPtmfb6R6XS/muWrXKTJs2zcybN8+sXbvWnosXXDov77DDDjP9+vUz559/vunevbuzLeUpe4sWLTITJ040Osrhc5/7nLnkkkvMsGHDzOc///m8VXj//ffNOeecY397+OGH7fl9cV86D7BHjx6mU6dOZu7cuaZFixbOJj799FPz5JNPmtdee81cccUV9oiK3Lpfd911ZunSpfZve++9t+nfv7+ZNGmS6dKli7NNJfTtO0GdfPkPvrPI4Dvu/Rz9Dv2OSwdLv0O/E2V8Rb+TnX7Hpf+IIw1CLg6KnvJ45plnzLe//W2zcePGOosa5M+cOdM89dRTVrDliqzgJomgKVOm2EPKy7kkFiXOXnzxxdDJevbsaWbMmGE6duwYOk1wo16IEiwajDa8JOJUzwEDBjT6LRBZ+kECqF27dmXbLpUgLiEnMSWxfc8991gBvGTJEtOmTRsrsiZMmGBuuummvEWRoJMoV9q99tqrVHEb/e7bd1QAn/6D7+A7rn0PvoPv4DuFXym8s4q/bvEdfKfsAVnMCRByMQNNKruXX37ZnHLKKWbLli1WkGnWSeJCwu373/++FQRvvPGG+dnPfmYuuOACOyv2yCOPmOHDh5vt27fbGaA+ffqELt4//vEPe/+bb75pZ/Yuvvhic+KJJ5pjjjnG7LvvvnX57Nixw/z5z382zz33nHnwwQfNv/71L3PEEUeYP/7xj+bLX/5yaHu6UWkkTFWnyy67zM7yffDBB2bq1KnmlVdesbNTEokSrLlixlXIieWtt95q/v3vf5cs50cffWQeeughOyt4+umn14nili1bmtGjR5uDDjqoZB664e6777ZtojbUIfEjR440zZo1M3PmzDFnnXWWzWPcuHHmoosuspz/85//2DZVOtW/3HZUfr59RzZ9+w++g++49j2+7u1iAAATnklEQVT4Dr6D7xR+ffHOSmbMQ7+TnX4n1OAvwZsQcgnCjStrfTHWEry77rrLXHrppebOO++0g38JkHPPPdcuqdR1//33m+9+97v1zP7ud78zQ4cOtTN5+r1JkyYli5VrT/mpIw+W/xVLLLGj2b/p06fbmSOVM+zs0a5du8x5551nl0Y2rIe+CN52221m7NixVszMmjWrbimlyuMq5IJ077zzTkkmhW740pe+FHoWUIJaS0AlxnIFWfB3LV3N14a5MwZiFLYdVWbfvtPQpg//wXfOscue8Z3y+x58B99xfW/hO/gOvlN46FQr4x3nwWOMCRFyMcJMKqvNmzebvn372tkZzXxpKV5wrVixwvTu3dsuZXz++edNq1at6hVDyzBPOukk+7d8v+crc2BPQkfrt7UvLOz197//3Xz961+3yxsXLFhgDj744FBJS5UzV8xo9mv+/PnmuOOOs3m7CjntVbvvvvus+JRYPPXUU+3sZr717mIyatQoy/4nP/mJ2X///a1tCdyTTz7ZCutSV1BOzabmsin099z8gjbZtm1b6HZUet++k2vTl//gOz3sDH2h5w3fKfxk4jv4jrzD5b2F7+A7+E7hvrVWxjulxn0+fkfI+aAc0Uax/Vml9m5J/GkpoF5UYfePlcqzWHVc7OWKsWLBRHLFXO7yTVchF9RDS1I1c7Rs2TIzaNAgO/PZvn37etWMwiTIqFAeYfJOgmspu0nYLPUouNgsVQ/ZxHfK6wNKPZOlmLu0Yymb+I5bkCX6nVKeY+xH0iTek/Q79Dv5vK9U/8k7q/znsdT7oxRzlz6gdM/i5w6EnB/OkawU+/L317/+1c6Ade7cOe8X+eBrvJZhBoE1ShWm1JfGYunfe+89O0OlJZBhZwCVn9KdcMIJRnvOis3k5W681gyalmJqlkoRJXWFFasN6/Dxxx/bQCvat6Z9cA888ID55je/Wbc0tFQnUIqpfv/www/NwIEDzVtvvWUWLlxo20xXsARBEUEbzrgG+a5fv9706tXL7leMa6YzCd9ReX37D75zjo0mi++U3/fgO/hO8P4p972F7+A7+E7hkU+tjHfCjP2SvgchlzThGPLXWnwFMFHURu0Vu/baa63AkPjQ3rlf/epXBQNhKOCJ9tEp2qNET7AksFixCtkrVRUtVbz99tvNmDFj7H63cvZyBWLmiSeesEFTtKev0KUAKNpr9vTTT9uZNAUHOe200yIJucCWxKdY//Of/7RBSRQMRcIuDiEnGzfeeKONTNlw75jaafDgweaWW26pa9+gTOKqv2uPoMveQ5++ozL79h98B99x7XvwHXwH3yn+ZuedVZgPvoPvlBoX+/gdIeeDcgw2ciMcdevWzUaPlOhRtC0JNZ1JtmnTJiueguiUSqNBvGZIJI4krsJeL730ko0aqciOxx57rBUXilqpvTi5e8jUkcmuIlcquqJsNtzDFtamhKoCs+jsuF/84hfmW9/6lp2ByhcwJTcqoqJjSmi1bdvWeUYut4yavdS+ud///vfm8MMPt+y01DKOc+Ryy628JXw1Syem119/vWX4gx/8wEaz1Fl1a9asMTfffLPlqv2PmnXR+YHlXL59R2Xz7T/4Dr7j2vfgO/gOvlP4jcI7K5kxD/1OdvqdcsZjSdyLkEuCagJ5aq29RJrC8mt5YXDpAO7Zs2cbRae85ppr8lpWAA/t+yr3HLl8Z4+Vqlqx895Kpc1dNql7c89Zy5dWB01rX4OWlekqJ4JkqbJIoIqp2Gnppv599NFH7aHcUQ8EV7nPPvvsuoPbVRYFTQlm/vKVTeJW0Tq13LPcqxK+ozL69B98Z8+sMb6T/6zJYs8MvoPvuL638B18B98pPiKplfFOueOyOO9HyMVJ00Nemv3STJweDu0R0/44CTS9UDSLdcMNN9QJPf1dszw65yxMVMV8xd+6das9vPrXv/61+dvf/lawhpol0llzEjzq2FwvCSgtAdXyTM2ClRJN7777rrn88sutmI1TyAXlb3iotSKAlipTmLqrvR577DG7VHb58uUFk2h285JLLrEiPepB5759R5Xy6T/4Tn03wnfCPIl77sF38B3X9xa+g+/gO8X72loZ74R/48R7J0IuXp4Vz00PTHDAtQKHlDsLV6oCWmqpvXnBJYEY9jDsUnm7/q4ZJy3/eP311+1RDK6itZB91VdLHqdNm2YDsmhPYphz9cLWJ1ieqn9zrwMOOMAur/R1Je07qke1+Q++E4934Tv0O66ehO/gO/hOeAK8s8KzKnanj34nnpKWzgUhV5oRd0AAAhCAAAQgAAEIQAACEKgqAgi5qmqO6iyMztdQKFkF5DjkkEPyHpgdlDyYXdL/L3VvsdrWgs1aqGOxNpavvPLKK/aMwyZNmpivfe1rpkOHDok9BL7tqSK+bfq2V4k6Bg6imXIF/9EMvAIxyYeSvHzbU1182/Rtz2cdNZPx5ptv2r3OCiKlCM4KDHbKKafEusIi8EHf9mTXt03f9nzVUf2ojlBqGGhNR04okNcnn3xit5Acf/zx5sADD4zc7fi2F/Tb1DHedozsCI4ZIOQcwdVCstz9Z0F9FUVy8uTJZsiQIXkFXdTDuWvBZi3UMfAXHePwm9/8xh7noHOazjrrLDvw1lJYBW5puO9Sx05oCavry9G3PdXTt03f9ipRxzD9a1xHgoSxpXt826uEzTTX8f3337fH0ujSPmtFWA6ufH1u8Ju2H0yYMMH86Ec/Kmsrgm97Kq9vm77tVaKOuc//G2+8YS688EKz77772r3w2t6gq5j/6AgoHQ/kst3Ctz3VxbdN3/YqUcew75Ck7kPIJUU25fnmntWWryoNz0EL7oki5GrBZi3UUb6gL7WKlHrVVVeZ3bt317nQcccdZ2bMmGEHTXpR6lIQF509p6M0dOkruc7VK2d/oG971DGZdiyn2/QtOnzbQ8iV4w3/FdpKtXTp0rrgUA37XB1Xo6BV+vvChQvN5s2braFyozsXetclZS/XH6ijMXG1Y+Bluccs5AZOk5jt37+/efnll+veV5r91xmUwTtLgef08aCcD5C+7anwvm36tleJOpbXSyVzN0IuGa6x5looGEY5RsIsi8zNT9EUFe1SZ9Y98MADNuy+NocqJL/OOVNIfp1fd++999brvKIIuVqwWQt1lB8tWrTIHtK+Y8cOO2jSmXk6bP2tt96yZyCuXr3aLkuRqFN0Ul1/+ctf7IydjpMo99xD3/aoYzLtGPQf77zzTjndW717y4le69te7mCcOhZv4nLasZjICQ601nE2im6s/ie49AFowYIF9oxVCbCHHnrIHg0T5ir0rkvKHnW80dx00032WKI42zFo6yuvvNLceeedZtCgQfYjZPBeCtpTRz3pbNmOHTvWuUfuO0tpf/jDH4ZxHXuPb3uVsFkLdQzd4AneiJBLEG5cWfsebHz00Uf2MO4XX3zRfrHU3qXcK/f8toZfMV2FXC3YrIU6yk80u6aD6CX69RFAgyTtNdD+G/1dXy51Ll4+3woEmUSg7tM+llKXb3vUMZl2FFd9/dZ+N+1lcr3KEQC+7VHH8K1aTjsWEjna2z1w4EC7r+mpp56yx/Xku9TXaLuAZl7C9jv53nVJ2qOOybSjuGpWtm/fvnbGavHixeaII46wbhL8feXKlXnfV7rnT3/6k91n2bNnT3ukUJgllr7tUcc97Rt3O4bvzZK9EyGXLN9YctdMmGZyxo4d65xfOS/F4AWlNPPmzatbJ55rXEEq9OVK+3VUtmuvvdYO1l2FXC3YrIU6ykc2btxoZ+Ek1vS1++CDD65znRdeeMF84xvfMD169MjrW8ELTkdoLFmyxLRp06akz/u2Rx2NSaIdg4bWfhTN+s+ZM8euCNAHgSOPPLKRH8S11NG3PVXEt03f9ipRx3zvnjB9bu4gt5x+x7e9QkKOOv63a3B5f+Ry7dSpU71zYsP0MQpadvrpp9ugXblLeou9uArlm5Q96rjBjjkatm9uG7m0Y8nBiacbEHKeQEc1oyUg9913n7n00ktttKT58+cb7TdK4grTmciuvnL269fPHvo8a9Ysu9E8qpAr9qCl3SZcjVm3bp3tUDt37pz3YHWXzrQY1yTsFXsp6rckbNZCHXP7Mi0nV383bNgw++c77rjDjBgxol6ApbDPU5g+0rc9lcm3Td/2fNcx37sn+MijIF3ak1to322Ufkf1DAbwSdorJOSStOmbaSXqKJuKRqkzYr/whS/U+8AYhm0wC6ul0mGFnG971HHPx+Vi/YBLO4Z5t/i4ByHng3JMNiTmbr31VjNmzBj7BUjiKe7Dr3O/TqoT11I3iatCV7AkJRCXCh+vgXruyy1M9YMvaVm2WQt1LOU/Wl6p5Sc6vP3HP/6x/SiRe61fv9706tXLdrgNZ/MK+VExrknYo457wuLH3Y752lcRzxTJNFgBoIimbdu2tbfGKeQC277tya5vm77t+apjsT1r2std7F2m2RQtu1TgpbD9jm97hUSO/q59XNTR2FmxcttR/BS4RB+in3zySfs/BdzSpTGXolJqi4D85+ijj27UTa1YscL07t27rKWVvu1Rx2TaMczY1sc9CDkflGO0oQ3ZZ5xxhl3apGWPWtMf9xV0XtrwWyqSl+6dNGmSue6660yrVq3M3XffbUaOHFm2kKsFm7VQx9yXn/ynUHTTfD6rJcSadbnnnnvsv9o83vAcn3zpcrn6sEcdi/c4ru1YKFeJxnHjxtlZOQl/Dap0dIWWC5ZaLuPSN/q2pzL6tunbno865u4lV0RDrRbRXtujjjrKBqHQKgD1KQ0/fmrvsmZ+p0+fXla/49terpDT7A91bFbv8XZtxyCTmTNnmqFDh9pxjIJwyXf0/tEROTo65ytf+YoNhtOyZcs6u2+//bYZPHiwWb58ufnlL39Zt4IgTL/j257K5Numb3uVqGOYtk76HoRc0oQTyF+h2RUxUl+q77///kQOwlWoXW3g3bJli404eP7555tRo0blXZqSO3ALqlvOnrwgTS3YrIU6qj1zww5r4HTRRReZiRMnmoMOOqjRE6FBpQbnmm1WVEvd88wzz5ivfvWroZ8e3/aoYzLtWKjBJdYVrEL9kJY7DR8+3B5toQ3spZZjh3ainBt92ws+DlDHwssfS7WjAtdIvGn2ttClAbkiHqqP0X64n//85/bcSoWR1wBeB8x37dq1lCn7u297lbBZC3UMGrvhOEb7c/UhW9EqFQtAfY+if+tDuo4Z0My2IjHrcjl+wLc9ldO3Td/2KlHHUJ1Fwjch5BIGnET2wXEEyvuQQw7JezB3HHafeOIJG3FQe+DUmRVbcqIH9vrrrzc//elPrWkXIad0tWCzFuqotlR0U31seO211+yLrlBEr2BppL5qKkCKlgxrxqXcy7c96li/heJqx2LtrsG3Zk8UBlxBdLRCQUupiu1/KtePcu/3bU+2fdv0bS/pOmrZmgbeCpakd5ZWrwRHPWifTOArr776qvUd7Y2RiFNQHX28LPfybU/l823Tt71K1DEQAVOmTLGB5fSBMcylGTmtRMqdqQuTrhL2KmFTY0OfTCtRx7DtndR9CLmkyGYkXy1X0BdMLSPRWvFi4eD1FfvZZ5+156No87iOL9Ceg3KvWrBZC3VUu+ujgwSaBlJ64eW7NEjQbK8G5hqku/hMkK9ve9Txvy0aZzsW6zNyg3ZokJA7OC+3rwlzv297gU8FwV6oY5hWKn6P2lDvMPVDChKmA50123T55ZdbMXfxxRc32q8bxapve4HPUMd42lF9mWZnNfbRrJvOzc29FEV3wIAB9sgKxQWIevm2Fwhl6hhvO0b1A9f0CDlXcqSDAAQgAIGKEdBy2mXLltnZFJ09p8F5kpdve6qLb5u+7VWijkn6CHlDAAIQ8E0AIeebOPYgAAEIQAACEIAABCAAAQhEJICQiwiQ5BCAAAQgAAEIQAACEIAABHwTQMj5Jo49CEAAAhCAAAQgAAEIQAACEQkg5CICJDkEIAABCEAAAhCAAAQgAAHfBBByvoljDwIQgAAEIAABCEAAAhCAQEQCCLmIAEkOAQhAAAIQgAAEIAABCEDANwGEnG/i2IMABCAAAQhAAAIQgAAEIBCRAEIuIkCSQwACEIAABCAAAQhAAAIQ8E0AIeebOPYgAAEIQAACEIAABCAAAQhEJICQiwiQ5BCAAAQgAAEIQAACEIAABHwTQMj5Jo49CEAAAhCAAAQgAAEIQAACEQkg5CICJDkEIAABCEAAAhCAAAQgAAHfBBByvoljDwIQgAAEIAABCEAAAhCAQEQCCLmIAEkOAQhAAAIQgAAEIAABCEDANwGEnG/i2IMABCAAAQhAAAIQgAAEIBCRAEIuIkCSQwACEIAABCAAAQhAAAIQ8E0AIeebOPYgAAEIQAACEIAABCAAAQhEJICQiwiQ5BCAAAQgAAEIQAACEIAABHwTQMj5Jo49CEAAAhCAAAQgAAEIQAACEQkg5CICJDkEIAABCEAAAhCAAAQgAAHfBBByvoljDwIQgAAEIAABCEAAAhCAQEQCCLmIAEkOAQhAAAIQgAAEIAABCEDANwGEnG/i2IMABCAAAQhAAAIQgAAEIBCRAEIuIkCSQwACEIAABCAAAQhAAAIQ8E0AIeebOPYgAAEIQAACEIAABCAAAQhEJICQiwiQ5BCAAAQgAAEIQAACEIAABHwTQMj5Jo49CEAAAhCAAAQgAAEIQAACEQn8H2hAD0cth0AiAAAAAElFTkSuQmCC" id="69" name="Google Shape;69;p1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6536" y="3763550"/>
            <a:ext cx="1949475" cy="121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5551" y="2962276"/>
            <a:ext cx="2534118" cy="198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35777" y="2962275"/>
            <a:ext cx="2730992" cy="80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>
            <a:off x="220494" y="91543"/>
            <a:ext cx="8563584" cy="2082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Н</a:t>
            </a:r>
            <a:r>
              <a:rPr b="1" lang="ru-RU" sz="1200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аблюдения</a:t>
            </a:r>
            <a:r>
              <a:rPr b="1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: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Количество пользователей самого дорого класса поездок сильно меньше чем поездок класса эконом и комфорт.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Есть разница между количеством пользователей разных ОС. Пользователей IOS меньше, чем пользователей  Android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Сквозная конверсия показала, что даже половина пользователей открывших приложение не доходит до стадии завершения поездки.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Из графика возрастов видно, что больше всего у нас заказывают поездки молодые пользователи. От 18 лет и чуть старше.</a:t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290250" y="3252663"/>
            <a:ext cx="85635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Д</a:t>
            </a:r>
            <a:r>
              <a:rPr b="1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ля более детального анализа, </a:t>
            </a:r>
            <a:r>
              <a:rPr b="1" lang="ru-RU" sz="1200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построим</a:t>
            </a:r>
            <a:r>
              <a:rPr b="1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несколько сводных таблиц, потому как чувств</a:t>
            </a:r>
            <a:r>
              <a:rPr b="1" lang="ru-RU" sz="1200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уется</a:t>
            </a:r>
            <a:r>
              <a:rPr b="1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корреляция между данными: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- Количество заказов разного класса, относительно пользователей разных ОС.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- Соотношение разного класса поездок относительно часа заказа.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- Соотношение пользователей разных ОС по возрастам.</a:t>
            </a:r>
            <a:endParaRPr b="0" i="0" sz="1200" u="none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261789" y="2775882"/>
            <a:ext cx="8563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О</a:t>
            </a:r>
            <a:r>
              <a:rPr b="1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сновные статистические метрики: медиана, мода, среднее значение, 95 </a:t>
            </a:r>
            <a:r>
              <a:rPr b="1" lang="ru-RU" sz="1200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перцентиль</a:t>
            </a:r>
            <a:r>
              <a:rPr b="1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/>
          <p:nvPr/>
        </p:nvSpPr>
        <p:spPr>
          <a:xfrm>
            <a:off x="165534" y="130453"/>
            <a:ext cx="8563584" cy="2780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Чтобы посмотреть основные статистики, распределения и увидеть выбросы в данных </a:t>
            </a:r>
            <a:r>
              <a:rPr b="1" lang="ru-RU" sz="1200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составим </a:t>
            </a:r>
            <a:r>
              <a:rPr b="1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такой отчет: 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Метрики по возрастам пользователей.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Метрики по </a:t>
            </a:r>
            <a:r>
              <a:rPr lang="ru-RU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километражу</a:t>
            </a:r>
            <a:r>
              <a:rPr b="0" i="0" lang="ru-RU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поездки.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Расстояния поездки.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Метрики по количеству заказов разные часы. 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Метрики по количеству пользователей.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ru-RU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Статистики для количества поездок по разным классам.</a:t>
            </a:r>
            <a:endParaRPr b="0" i="0" sz="1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Лучше всего это видно на боксплотах.</a:t>
            </a:r>
            <a:endParaRPr/>
          </a:p>
          <a:p>
            <a:pPr indent="-1143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85" name="Google Shape;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200" y="3108875"/>
            <a:ext cx="1968975" cy="188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1760" y="479277"/>
            <a:ext cx="2559998" cy="2875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03835" y="2519536"/>
            <a:ext cx="1685784" cy="2235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56175" y="3108875"/>
            <a:ext cx="1803551" cy="188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510" y="723512"/>
            <a:ext cx="3381306" cy="3677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66899" y="232730"/>
            <a:ext cx="3206223" cy="3691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1177" y="882712"/>
            <a:ext cx="2213637" cy="2233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765" y="164460"/>
            <a:ext cx="2691051" cy="3045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4499" y="2729221"/>
            <a:ext cx="2263956" cy="2322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46499" y="105253"/>
            <a:ext cx="3609746" cy="1817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49775" y="724448"/>
            <a:ext cx="3043382" cy="3038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25849" y="3675974"/>
            <a:ext cx="3083975" cy="1336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8308" y="3066172"/>
            <a:ext cx="5635573" cy="185648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382622" y="130453"/>
            <a:ext cx="8563584" cy="820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5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Сводные таблицы.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Здесь хочется отметить, таблица «пользователей разных ОС по возрастам» отсортирована так, чтобы наибольшее количество пользователей было сверху, поэтому нас интересует только верхушка этой таблицы. </a:t>
            </a:r>
            <a:endParaRPr b="1" i="0" sz="1200" u="none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111" name="Google Shape;11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213" y="1204714"/>
            <a:ext cx="3249764" cy="2807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/>
        </p:nvSpPr>
        <p:spPr>
          <a:xfrm>
            <a:off x="133252" y="82672"/>
            <a:ext cx="7146000" cy="306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1" i="0" lang="ru-RU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Формирование гипотез </a:t>
            </a:r>
            <a:endParaRPr b="1" i="0" sz="2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roxima Nova Semibold"/>
              <a:buChar char="●"/>
            </a:pPr>
            <a:r>
              <a:rPr b="0" i="0" lang="ru-RU" sz="18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Какие гипотезы из них получились?</a:t>
            </a:r>
            <a:endParaRPr b="0" i="0" sz="1800" u="none" cap="none" strike="noStrike">
              <a:solidFill>
                <a:srgbClr val="FFFF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7" name="Google Shape;117;p21"/>
          <p:cNvSpPr/>
          <p:nvPr/>
        </p:nvSpPr>
        <p:spPr>
          <a:xfrm>
            <a:off x="194550" y="366725"/>
            <a:ext cx="8563500" cy="46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Из сводных таблиц видно что: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Предположение, что разные классы поездок зависят от часа заказа не подтвердилось.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Так же не было замечено, особых зависимостей между возрастом основных пользователей сайта и системами ОС, которыми эти пользователи пользуются.</a:t>
            </a:r>
            <a:endParaRPr b="0" i="0" sz="12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28600" lvl="0" marL="22860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Г</a:t>
            </a:r>
            <a:r>
              <a:rPr b="1" i="0" lang="ru-RU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ипотезы:</a:t>
            </a:r>
            <a:endParaRPr b="1" i="0" sz="12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1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Гипотеза №1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Если на этапе pricе-seen рядом с кнопкой заказа создать и поместить кнопку поездка BUSINESS с предложением начисления 500 бонусных баллов, равных 500 рублям на следующую поездку для всех пользователей, то возрастет количество бизнес-заказов с 11% до 15%, то есть на 4 пп.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1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Гипотеза №2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Если выдавать рекламный купон со скидкой 5% всем пользователям, покупающим телефоны на платформе IOS на маркетплейсе "ОЗОН", то мы сможем увеличить кол-во наших более платежеспособных пользователей на 6 пп. То есть до 50%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1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Гипотеза №3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Если для пользователей среднего возраста(26 лет) на этапе oder-mage(когда пользователь кликнул по кнопке заказа) сделать всплывающее окно, с просьбой оценить наш сервис по пятибалльной шкале и написать комментарий, то  мы сможем увидеть какие улучшения нам нужно сделать на нашем сайте, чтобы в будущем увеличить количество постоянных пользователей  среднего возраста.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1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Гипотеза №4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Если </a:t>
            </a:r>
            <a:r>
              <a:rPr lang="ru-RU" sz="1100">
                <a:latin typeface="Proxima Nova"/>
                <a:ea typeface="Proxima Nova"/>
                <a:cs typeface="Proxima Nova"/>
                <a:sym typeface="Proxima Nova"/>
              </a:rPr>
              <a:t>пользователь задерживается</a:t>
            </a:r>
            <a:r>
              <a:rPr b="0" i="0" lang="ru-RU" sz="11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более 1 минуты, перед кликом по кнопке заказа, выдавать всплывающее окно с предложением 10% скидки на следующую поездку, то это увеличит конверсию  переходов с oder-made на ride-complet.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1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Гипотеза №5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1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Если пользователи  заказывают у нас поездку типа "комфорт" выбрасывать баннер-картинку с ярким запоминающимся баннером, картинкой лимузина и предложением исправить статус поездки с "комфорта" на бизнес, это повысит количество поездок "бизнес" на 5%. То есть мы повысим количество бизнес-поездок с 11,9% до 16%.</a:t>
            </a:r>
            <a:endParaRPr b="0" i="0" sz="12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/>
          <p:nvPr/>
        </p:nvSpPr>
        <p:spPr>
          <a:xfrm>
            <a:off x="207525" y="130875"/>
            <a:ext cx="85635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Обработка гипотез</a:t>
            </a:r>
            <a:r>
              <a:rPr b="1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: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1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Для гипотезы №2 </a:t>
            </a:r>
            <a:r>
              <a:rPr b="0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оказалось что, проверить  то что пользователи телефонов на ОС IOS более платежеспособны и получить статистическое подтверждение практически невозможно. Наши рассуждения не подкреплены данными.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1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Для гипотезы №3 </a:t>
            </a:r>
            <a:r>
              <a:rPr b="0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требуется дополнительно собрать данные, провести исследование, подтвердить, что пользователь среднего возраста, доходит по конверсии до совершении поездки. У нас нет на данный момент подтверждения этой гипотезы.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b="0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А </a:t>
            </a:r>
            <a:r>
              <a:rPr b="1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гипотеза №4 </a:t>
            </a:r>
            <a:r>
              <a:rPr b="0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вообще неправильно сформулирована: для увеличения выручки нужно поднять конверсию, с момента заказа до момента "заказать поездку".</a:t>
            </a:r>
            <a:endParaRPr b="0" i="0" sz="1200" u="none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23" name="Google Shape;123;p22"/>
          <p:cNvSpPr/>
          <p:nvPr/>
        </p:nvSpPr>
        <p:spPr>
          <a:xfrm>
            <a:off x="290250" y="2536423"/>
            <a:ext cx="8563500" cy="16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Таким образом, у нас остались две гипотезы (№1 и №5), которые:</a:t>
            </a:r>
            <a:endParaRPr b="1" i="0" sz="1200" u="none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Подкреплены цифрами, полученными при проведении первичного анализа.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Исходили из наблюдений, сделанных при проведении первичного анализа.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А </a:t>
            </a:r>
            <a:r>
              <a:rPr lang="ru-RU" sz="1200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также</a:t>
            </a:r>
            <a:r>
              <a:rPr b="0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, из идеи, что повышение конверсии и поездок самого высокого класса на очень большой процент сразу наш бизнес не потянет. Нужно ставить реальные цели.</a:t>
            </a:r>
            <a:endParaRPr b="0" i="0" sz="1200" u="none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999004" y="4270812"/>
            <a:ext cx="7146000" cy="7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1" i="0" lang="ru-RU" sz="11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Эти гипотезы были </a:t>
            </a:r>
            <a:r>
              <a:rPr b="1" lang="ru-RU" sz="1100">
                <a:latin typeface="Proxima Nova"/>
                <a:ea typeface="Proxima Nova"/>
                <a:cs typeface="Proxima Nova"/>
                <a:sym typeface="Proxima Nova"/>
              </a:rPr>
              <a:t>приоритезированы</a:t>
            </a:r>
            <a:r>
              <a:rPr b="1" i="0" lang="ru-RU" sz="11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с помощью системы IСE.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Из расчета </a:t>
            </a:r>
            <a:r>
              <a:rPr b="1" i="0" lang="ru-RU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IСE </a:t>
            </a:r>
            <a:r>
              <a:rPr b="0" i="0" lang="ru-RU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видно, что: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10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Char char="-"/>
            </a:pPr>
            <a:r>
              <a:rPr b="1" i="0" lang="ru-RU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Гипотеза №5 </a:t>
            </a:r>
            <a:r>
              <a:rPr b="0" i="0" lang="ru-RU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более дешевая в исполнении и </a:t>
            </a:r>
            <a:r>
              <a:rPr lang="ru-RU" sz="1200">
                <a:latin typeface="Proxima Nova"/>
                <a:ea typeface="Proxima Nova"/>
                <a:cs typeface="Proxima Nova"/>
                <a:sym typeface="Proxima Nova"/>
              </a:rPr>
              <a:t>её</a:t>
            </a:r>
            <a:r>
              <a:rPr b="0" i="0" lang="ru-RU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ICE больше, чем у </a:t>
            </a:r>
            <a:r>
              <a:rPr b="1" i="0" lang="ru-RU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гипотезы №1</a:t>
            </a:r>
            <a:r>
              <a:rPr b="0" i="0" lang="ru-RU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. </a:t>
            </a:r>
            <a:endParaRPr/>
          </a:p>
          <a:p>
            <a:pPr indent="-3810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Char char="-"/>
            </a:pPr>
            <a:r>
              <a:rPr b="0" i="0" lang="ru-RU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Поэтому она получила самый высший рейтинг. На втором месте оказалась первая гипотеза.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/>
        </p:nvSpPr>
        <p:spPr>
          <a:xfrm>
            <a:off x="275925" y="244800"/>
            <a:ext cx="4572369" cy="25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1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Расчеты </a:t>
            </a:r>
            <a:r>
              <a:rPr b="1" i="0" lang="ru-RU" sz="21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ICE для гипотезы №1 и №5</a:t>
            </a:r>
            <a:endParaRPr b="1" i="0" sz="21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roxima Nova Semibold"/>
              <a:buChar char="●"/>
            </a:pPr>
            <a:r>
              <a:rPr b="0" i="0" lang="ru-RU" sz="18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Какие гипотезы из них получились?</a:t>
            </a:r>
            <a:endParaRPr b="0" i="0" sz="1800" u="none" cap="none" strike="noStrike">
              <a:solidFill>
                <a:srgbClr val="FFFF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130" name="Google Shape;13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4868" y="513596"/>
            <a:ext cx="6081747" cy="4434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/>
        </p:nvSpPr>
        <p:spPr>
          <a:xfrm>
            <a:off x="275925" y="244800"/>
            <a:ext cx="7146000" cy="366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1" i="0" lang="ru-RU" sz="2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Подготовка к А/Б-тестированию</a:t>
            </a:r>
            <a:endParaRPr b="1" i="0" sz="2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6" name="Google Shape;136;p24"/>
          <p:cNvSpPr/>
          <p:nvPr/>
        </p:nvSpPr>
        <p:spPr>
          <a:xfrm>
            <a:off x="141553" y="584924"/>
            <a:ext cx="85635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паспорт А/Б теста</a:t>
            </a:r>
            <a:r>
              <a:rPr b="1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, который опирается на расчет калькулятора.</a:t>
            </a:r>
            <a:endParaRPr/>
          </a:p>
        </p:txBody>
      </p:sp>
      <p:pic>
        <p:nvPicPr>
          <p:cNvPr id="137" name="Google Shape;13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559" y="857246"/>
            <a:ext cx="6423851" cy="40590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калькулятор.jpg" id="138" name="Google Shape;13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0997" y="2220919"/>
            <a:ext cx="3854952" cy="2168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/>
          <p:nvPr/>
        </p:nvSpPr>
        <p:spPr>
          <a:xfrm>
            <a:off x="134975" y="170476"/>
            <a:ext cx="8563500" cy="28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В</a:t>
            </a:r>
            <a:r>
              <a:rPr b="1" i="0" lang="ru-RU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ыборка на тестовую и контрольную группы: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Согласно данному калькулятору, нам потребуется 1240 наблюдений. То есть, в выборку мы возьмем не менее 2240 наблюдений.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Мощность теста 85% взята из расчета, что чем выше мощность теста, тем больше вероятность исключить ошибку второго рода. И размер выборки не сильно увеличивается если поднять мощность с 80% до 85%. Что видно из калькулятора.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С</a:t>
            </a:r>
            <a:r>
              <a:rPr b="1" i="0" lang="ru-RU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плит:</a:t>
            </a:r>
            <a:endParaRPr/>
          </a:p>
          <a:p>
            <a:pPr indent="-3048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roxima Nova"/>
              <a:buAutoNum type="arabicPeriod"/>
            </a:pPr>
            <a:r>
              <a:rPr b="0" i="0" lang="ru-RU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Отфильтровали, только тех пользователей, что заказывали поездки класса «comfort»</a:t>
            </a:r>
            <a:endParaRPr/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roxima Nova"/>
              <a:buAutoNum type="arabicPeriod"/>
            </a:pPr>
            <a:r>
              <a:rPr b="0" i="0" lang="ru-RU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Отфильтровали, оставили только те наблюдения, где поездка была завершена успешно (ridecompleet)</a:t>
            </a:r>
            <a:endParaRPr/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roxima Nova"/>
              <a:buAutoNum type="arabicPeriod"/>
            </a:pPr>
            <a:r>
              <a:rPr b="0" i="0" lang="ru-RU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Сделали разбивку на группу 1 (контрольную) и 0(тестовую), добавили столбец с названиями test и control</a:t>
            </a:r>
            <a:endParaRPr b="0" i="0" sz="12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roxima Nova"/>
              <a:buAutoNum type="arabicPeriod"/>
            </a:pPr>
            <a:r>
              <a:rPr b="0" i="0" lang="ru-RU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Отфильтровали, оставили на одном листе тестовую группу, а на другом контрольную.</a:t>
            </a:r>
            <a:endParaRPr/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roxima Nova"/>
              <a:buAutoNum type="arabicPeriod"/>
            </a:pPr>
            <a:r>
              <a:rPr b="0" i="0" lang="ru-RU" sz="12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Проверили, чтобы в выборках было равное количество наблюдений, и их было больше чем 1240 в каждой.</a:t>
            </a:r>
            <a:endParaRPr b="0" i="0" sz="12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44" name="Google Shape;14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976" y="3189024"/>
            <a:ext cx="8738775" cy="128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/>
          <p:nvPr/>
        </p:nvSpPr>
        <p:spPr>
          <a:xfrm>
            <a:off x="207804" y="131568"/>
            <a:ext cx="8563584" cy="1513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Для того чтобы сравнить выборки в тестовой и контрольной группе проведе</a:t>
            </a:r>
            <a:r>
              <a:rPr b="1" lang="ru-RU" sz="1200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м</a:t>
            </a:r>
            <a:r>
              <a:rPr b="1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тест Манна-Уитни.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Шаги, для проведения теста: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ru-RU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Загрузка данных</a:t>
            </a:r>
            <a:r>
              <a:rPr lang="ru-RU" sz="1200">
                <a:latin typeface="Proxima Nova"/>
                <a:ea typeface="Proxima Nova"/>
                <a:cs typeface="Proxima Nova"/>
                <a:sym typeface="Proxima Nova"/>
              </a:rPr>
              <a:t>, </a:t>
            </a:r>
            <a:r>
              <a:rPr b="0" i="0" lang="ru-RU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оставим только тех пользователей, у кого ОС Андроид.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ru-RU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Оставим только тех пользователей, что завершили поездку удачно.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ru-RU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Создадим колонку с разбивкой на группу №1 и группу №0 и добавим эту колонку к датафрейму.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ru-RU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Оставим нужные колонки, разобьем на две отдельные выборки.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0" i="0" lang="ru-RU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Проведем тест Манна-Уитни для двух выборок.</a:t>
            </a:r>
            <a:endParaRPr b="1" i="0" sz="1200" u="none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150" name="Google Shape;15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1203" y="1602052"/>
            <a:ext cx="6038987" cy="3402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0673" y="458909"/>
            <a:ext cx="6210026" cy="4612519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7"/>
          <p:cNvSpPr/>
          <p:nvPr/>
        </p:nvSpPr>
        <p:spPr>
          <a:xfrm>
            <a:off x="207804" y="131568"/>
            <a:ext cx="8563584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5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Разбивка данных на тестовую группу и контрольную: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5321" y="203929"/>
            <a:ext cx="5822577" cy="454818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8"/>
          <p:cNvSpPr/>
          <p:nvPr/>
        </p:nvSpPr>
        <p:spPr>
          <a:xfrm>
            <a:off x="207804" y="131568"/>
            <a:ext cx="8563584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5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Тест Манна-Уитни: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/>
        </p:nvSpPr>
        <p:spPr>
          <a:xfrm>
            <a:off x="275925" y="244800"/>
            <a:ext cx="8007000" cy="16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1" i="0" lang="ru-RU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Проведение А/Б-теста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1" i="0" lang="ru-RU" sz="10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Для А/Б тестирования была взята фича: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0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Понижаем коэффициент surge, чтобы увеличить price-to-order конверсию (во время surge). То есть ожидаем повышения price-to-order конверсии во время, когда действует коэффициент surge. </a:t>
            </a:r>
            <a:endParaRPr b="0" i="0" sz="10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Char char="•"/>
            </a:pPr>
            <a:r>
              <a:rPr b="0" i="0" lang="ru-RU" sz="10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Был подготовлен паспорт А/Б теста. 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Char char="•"/>
            </a:pPr>
            <a:r>
              <a:rPr b="0" i="0" lang="ru-RU" sz="10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Тест проводился 1 неделю.</a:t>
            </a:r>
            <a:endParaRPr b="0" i="0" sz="10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Char char="•"/>
            </a:pPr>
            <a:r>
              <a:rPr b="0" i="0" lang="ru-RU" sz="10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Данные были разбиты на группы test и control.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Char char="•"/>
            </a:pPr>
            <a:r>
              <a:rPr b="0" i="0" lang="ru-RU" sz="10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И мы сравнивали периодический p-value (за каждый день).</a:t>
            </a:r>
            <a:endParaRPr/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0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Паспорт А/Б теста</a:t>
            </a:r>
            <a:endParaRPr b="1" i="0" sz="10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ru-RU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0" i="0" lang="ru-RU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b="0" i="0" sz="1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8" name="Google Shape;16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883" y="1863664"/>
            <a:ext cx="3670756" cy="312195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9"/>
          <p:cNvSpPr txBox="1"/>
          <p:nvPr/>
        </p:nvSpPr>
        <p:spPr>
          <a:xfrm>
            <a:off x="4390919" y="1725620"/>
            <a:ext cx="39672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1" i="0" lang="ru-RU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Разбивка данных на тестовую и контрольную группы</a:t>
            </a:r>
            <a:endParaRPr b="1" i="0" sz="1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70" name="Google Shape;17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2305" y="1903817"/>
            <a:ext cx="4632933" cy="1194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58883" y="3182034"/>
            <a:ext cx="4631206" cy="1501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/>
        </p:nvSpPr>
        <p:spPr>
          <a:xfrm>
            <a:off x="532483" y="304006"/>
            <a:ext cx="3967154" cy="1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1" i="0" lang="ru-RU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По каждому дню теста был посчитан свой p-value</a:t>
            </a:r>
            <a:endParaRPr b="1" i="0" sz="1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77" name="Google Shape;17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5598" y="539430"/>
            <a:ext cx="4695082" cy="214466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0"/>
          <p:cNvSpPr txBox="1"/>
          <p:nvPr/>
        </p:nvSpPr>
        <p:spPr>
          <a:xfrm>
            <a:off x="895393" y="2910155"/>
            <a:ext cx="3967154" cy="1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1" i="0" lang="ru-RU" sz="1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И результаты сведены в единую таблицу.</a:t>
            </a:r>
            <a:endParaRPr b="1" i="0" sz="1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79" name="Google Shape;17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952" y="3170796"/>
            <a:ext cx="4838528" cy="1126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42808" y="2662883"/>
            <a:ext cx="3228872" cy="2045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/>
        </p:nvSpPr>
        <p:spPr>
          <a:xfrm>
            <a:off x="275925" y="244800"/>
            <a:ext cx="7146000" cy="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1" i="0" lang="ru-RU" sz="2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Анализ результатов А/Б-теста </a:t>
            </a:r>
            <a:endParaRPr b="1" i="0" sz="2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6" name="Google Shape;186;p31"/>
          <p:cNvSpPr/>
          <p:nvPr/>
        </p:nvSpPr>
        <p:spPr>
          <a:xfrm>
            <a:off x="141550" y="782275"/>
            <a:ext cx="8563500" cy="40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А/Б тест показал: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Из графика и полученных данных мы видим, что p-value хоть и менялся день ото дня, но в большинстве случаев был больше 5%. И мы можем отвергнуть нулевую гипотезу, о том что средние в контрольной и тестовой группе равны и принять альтернативную гипотезу.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То есть действительно, если понизить коэффициент surge конверсия в совершение заказа увеличится.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Шаги, которые можно предпринять в дальнейшем с командой:</a:t>
            </a:r>
            <a:endParaRPr b="0" i="0" sz="1200" u="none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Понизить коэффициент surge, запустить эту фичу в работу.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Разработать небольшой рекламный баннер, сообщить пользователям, о том что коэффициент понижен. Поставить эту задачу маркетологу  и дать задание отделу разработки (техническая реализация).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Собрать данные в реальной обстановке по конверсии и проанализировать их в течении 2 месяцев. Соответственно, поставить задачу датасоентисту и команде разработчиков, для того чтобы обеспечить этот процесс технически. Здесь хорошо будет отследить результаты в динамике.</a:t>
            </a:r>
            <a:endParaRPr b="0" i="0" sz="1200" u="none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Поставить задачу датасоентисту: по истечении 2 месяцев подготовить отчет и дашборд по финансовой составляющей. Выявить был ли статистически значимый эффект от этой фичи. </a:t>
            </a:r>
            <a:endParaRPr b="0" i="0" sz="1200" u="none" cap="none" strike="noStrike">
              <a:solidFill>
                <a:schemeClr val="dk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87" name="Google Shape;187;p31"/>
          <p:cNvSpPr txBox="1"/>
          <p:nvPr/>
        </p:nvSpPr>
        <p:spPr>
          <a:xfrm>
            <a:off x="3099015" y="4765051"/>
            <a:ext cx="28938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1" i="0" lang="ru-RU" sz="21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Спасибо за внимание!</a:t>
            </a:r>
            <a:endParaRPr b="1" i="0" sz="21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